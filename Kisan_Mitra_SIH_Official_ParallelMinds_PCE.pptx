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1 - 20s):
Respected judges, we represent Team 3414, Parallel Minds, from Poornima College of Engineering. We are proud to present Kisan Mitra — a unified Smart Farmer Assistant and Direct Crop Marketplace that brings the farmer from uninformed guesswork to fair, profitable market realization.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2 - 30s):
Judges, our research revealed three critical pain points: First, blind sowing leads to market gluts where crops are dumped on roads. Second, up to 6 layers of middlemen take a 40% margin. Third, smallholder farmers have zero access to the booming $50B export market. Kisan Mitra is designed to solve this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3 - 35s):
Kisan Mitra provides a 3-portal architecture. For the farmer, it provides precision crop advice and input calculators. For commercial buyers like BigBasket, a direct trading floor. And for FPOs, an international export gateway connecting them to APEDA trade leads across 16 countries with complete statutory document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4 - 30s):
This 6-step journey is the backbone of Kisan Mitra. A farmer registers land details, receives tailored ICAR crop advice, plans input budgets with our calculator, follows a seasonal calendar, monitors live APMC market prices, and lists their harvest directly for sale — eliminating middleman extortion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5 - 30s):
Judges, our solution is grounded in authentic government sources. We don't use arbitrary dummy data. Our agronomy comes from ICAR research guidelines, our mandi prices are mapped to Agmarknet daily bulletins, our weather models align with IMD advisories, and our export contracts reflect official APEDA trade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6 - 30s):
Our four key innovations: Explainable AI that farmers can trust; 100% full-DOM translation into 9 languages; dynamic APMC price visualizers; and an export desk that turns complex cross-border documentation into a simple, guided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7 - 30s):
Our system architecture uses React 19 and Tailwind for optimal speed and mobile responsiveness. Visualizations are rendered with Recharts. All data interactions use async repository contracts: while it runs offline in local storage today, migrating to Cloud Firestore or a Python backend requires zero changes to the front-end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8 - 35s):
Judges, every screen here is active in our prototype right now. On screen one, the farmer gets exact NPK doses and profit forecasts. Screen two displays 58 live mandi feeds with 30-day price curves. Screen three lets institutional buyers browse verified harvest lots. And screen four allows FPOs to bid directly on overseas contracts like our $2,450/MT pomegranate export lead to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9 - 30s):
The impact of Kisan Mitra is grounded in hard numbers: a 30 to 50% increase in net farmer income, a 20 to 30% cut in input costs, direct wholesale connections, and alignment with UN Sustainable Development Goals 2, 8, 12,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10 - 25s):
If the jury asks: 'Why not just use e-NAM?', this matrix is your answer. e-NAM is only a bidding tool for commission agents in physical yards. Kisan Mitra covers the full lifecycle: pre-sowing crop selection, input cost modeling, farm-gate direct sales, and overseas export corridors that e-NAM does 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11 - 25s):
We have a concrete roadmap. Phase 1 is fully completed and operational today. Phase 2 integrates with ONDC for logistics and deploys a WhatsApp voice bot for low-literacy farmers. Phase 3 scales nationwide with e-RUPI smart-contract escrow payments upon quality delivery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SCRIPT (Slide 12 - 20s):
In conclusion, Kisan Mitra turns Indian farmers from price-takers into empowered agri-entrepreneurs. We invite the jury to test our live prototype now.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818"/>
        </a:solidFill>
      </p:bgPr>
    </p:bg>
    <p:spTree>
      <p:nvGrpSpPr>
        <p:cNvPr id="1" name=""/>
        <p:cNvGrpSpPr/>
        <p:nvPr/>
      </p:nvGrpSpPr>
      <p:grpSpPr>
        <a:xfrm>
          <a:off x="0" y="0"/>
          <a:ext cx="0" cy="0"/>
          <a:chOff x="0" y="0"/>
          <a:chExt cx="0" cy="0"/>
        </a:xfrm>
      </p:grpSpPr>
      <p:sp>
        <p:nvSpPr>
          <p:cNvPr id="2" name="Shape 0"/>
          <p:cNvSpPr/>
          <p:nvPr/>
        </p:nvSpPr>
        <p:spPr>
          <a:xfrm>
            <a:off x="731520" y="365760"/>
            <a:ext cx="2560320" cy="45720"/>
          </a:xfrm>
          <a:prstGeom prst="rect">
            <a:avLst/>
          </a:prstGeom>
          <a:solidFill>
            <a:srgbClr val="FF9933"/>
          </a:solidFill>
          <a:ln w="12700">
            <a:solidFill>
              <a:srgbClr val="FF9933"/>
            </a:solidFill>
            <a:prstDash val="solid"/>
          </a:ln>
        </p:spPr>
      </p:sp>
      <p:sp>
        <p:nvSpPr>
          <p:cNvPr id="3" name="Shape 1"/>
          <p:cNvSpPr/>
          <p:nvPr/>
        </p:nvSpPr>
        <p:spPr>
          <a:xfrm>
            <a:off x="3291840" y="365760"/>
            <a:ext cx="2560320" cy="45720"/>
          </a:xfrm>
          <a:prstGeom prst="rect">
            <a:avLst/>
          </a:prstGeom>
          <a:solidFill>
            <a:srgbClr val="FFFFFF"/>
          </a:solidFill>
          <a:ln w="12700">
            <a:solidFill>
              <a:srgbClr val="FFFFFF"/>
            </a:solidFill>
            <a:prstDash val="solid"/>
          </a:ln>
        </p:spPr>
      </p:sp>
      <p:sp>
        <p:nvSpPr>
          <p:cNvPr id="4" name="Shape 2"/>
          <p:cNvSpPr/>
          <p:nvPr/>
        </p:nvSpPr>
        <p:spPr>
          <a:xfrm>
            <a:off x="5852160" y="365760"/>
            <a:ext cx="2560320" cy="45720"/>
          </a:xfrm>
          <a:prstGeom prst="rect">
            <a:avLst/>
          </a:prstGeom>
          <a:solidFill>
            <a:srgbClr val="138808"/>
          </a:solidFill>
          <a:ln w="12700">
            <a:solidFill>
              <a:srgbClr val="138808"/>
            </a:solidFill>
            <a:prstDash val="solid"/>
          </a:ln>
        </p:spPr>
      </p:sp>
      <p:sp>
        <p:nvSpPr>
          <p:cNvPr id="5" name="Text 3"/>
          <p:cNvSpPr/>
          <p:nvPr/>
        </p:nvSpPr>
        <p:spPr>
          <a:xfrm>
            <a:off x="731520" y="548640"/>
            <a:ext cx="7680960" cy="274320"/>
          </a:xfrm>
          <a:prstGeom prst="rect">
            <a:avLst/>
          </a:prstGeom>
          <a:noFill/>
          <a:ln/>
        </p:spPr>
        <p:txBody>
          <a:bodyPr wrap="square" rtlCol="0" anchor="ctr"/>
          <a:lstStyle/>
          <a:p>
            <a:pPr indent="0" marL="0">
              <a:buNone/>
            </a:pPr>
            <a:r>
              <a:rPr lang="en-US" sz="1000" b="1" dirty="0">
                <a:solidFill>
                  <a:srgbClr val="FCD34D"/>
                </a:solidFill>
                <a:latin typeface="Arial" pitchFamily="34" charset="0"/>
                <a:ea typeface="Arial" pitchFamily="34" charset="-122"/>
                <a:cs typeface="Arial" pitchFamily="34" charset="-120"/>
              </a:rPr>
              <a:t>POORNIMA COLLEGE OF ENGINEERING  •  SMART INDIA HACKATHON 2026</a:t>
            </a:r>
            <a:endParaRPr lang="en-US" sz="1000" dirty="0"/>
          </a:p>
        </p:txBody>
      </p:sp>
      <p:sp>
        <p:nvSpPr>
          <p:cNvPr id="6" name="Shape 4"/>
          <p:cNvSpPr/>
          <p:nvPr/>
        </p:nvSpPr>
        <p:spPr>
          <a:xfrm>
            <a:off x="731520" y="868680"/>
            <a:ext cx="4389120" cy="320040"/>
          </a:xfrm>
          <a:prstGeom prst="roundRect">
            <a:avLst>
              <a:gd name="adj" fmla="val 22857"/>
            </a:avLst>
          </a:prstGeom>
          <a:solidFill>
            <a:srgbClr val="14532D"/>
          </a:solidFill>
          <a:ln w="12700">
            <a:solidFill>
              <a:srgbClr val="22C55E"/>
            </a:solidFill>
            <a:prstDash val="solid"/>
          </a:ln>
        </p:spPr>
      </p:sp>
      <p:sp>
        <p:nvSpPr>
          <p:cNvPr id="7" name="Text 5"/>
          <p:cNvSpPr/>
          <p:nvPr/>
        </p:nvSpPr>
        <p:spPr>
          <a:xfrm>
            <a:off x="731520" y="868680"/>
            <a:ext cx="4389120" cy="320040"/>
          </a:xfrm>
          <a:prstGeom prst="rect">
            <a:avLst/>
          </a:prstGeom>
          <a:noFill/>
          <a:ln/>
        </p:spPr>
        <p:txBody>
          <a:bodyPr wrap="square" rtlCol="0" anchor="ctr"/>
          <a:lstStyle/>
          <a:p>
            <a:pPr algn="ctr" indent="0" marL="0">
              <a:buNone/>
            </a:pPr>
            <a:r>
              <a:rPr lang="en-US" sz="1000" b="1" dirty="0">
                <a:solidFill>
                  <a:srgbClr val="BBF7D0"/>
                </a:solidFill>
                <a:latin typeface="Arial" pitchFamily="34" charset="0"/>
                <a:ea typeface="Arial" pitchFamily="34" charset="-122"/>
                <a:cs typeface="Arial" pitchFamily="34" charset="-120"/>
              </a:rPr>
              <a:t>“Sahi Jaankari, Sahi Faisla, Behtar Bhav”</a:t>
            </a:r>
            <a:endParaRPr lang="en-US" sz="1000" dirty="0"/>
          </a:p>
        </p:txBody>
      </p:sp>
      <p:sp>
        <p:nvSpPr>
          <p:cNvPr id="8" name="Text 6"/>
          <p:cNvSpPr/>
          <p:nvPr/>
        </p:nvSpPr>
        <p:spPr>
          <a:xfrm>
            <a:off x="731520" y="1280160"/>
            <a:ext cx="7680960" cy="73152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KISAN MITRA</a:t>
            </a:r>
            <a:endParaRPr lang="en-US" sz="4000" dirty="0"/>
          </a:p>
        </p:txBody>
      </p:sp>
      <p:sp>
        <p:nvSpPr>
          <p:cNvPr id="9" name="Text 7"/>
          <p:cNvSpPr/>
          <p:nvPr/>
        </p:nvSpPr>
        <p:spPr>
          <a:xfrm>
            <a:off x="731520" y="2011680"/>
            <a:ext cx="7680960" cy="365760"/>
          </a:xfrm>
          <a:prstGeom prst="rect">
            <a:avLst/>
          </a:prstGeom>
          <a:noFill/>
          <a:ln/>
        </p:spPr>
        <p:txBody>
          <a:bodyPr wrap="square" rtlCol="0" anchor="ctr"/>
          <a:lstStyle/>
          <a:p>
            <a:pPr indent="0" marL="0">
              <a:buNone/>
            </a:pPr>
            <a:r>
              <a:rPr lang="en-US" sz="1600" b="1" dirty="0">
                <a:solidFill>
                  <a:srgbClr val="86EFAC"/>
                </a:solidFill>
                <a:latin typeface="Arial" pitchFamily="34" charset="0"/>
                <a:ea typeface="Arial" pitchFamily="34" charset="-122"/>
                <a:cs typeface="Arial" pitchFamily="34" charset="-120"/>
              </a:rPr>
              <a:t>Smart Farmer Assistant + Direct Crop Marketplace</a:t>
            </a:r>
            <a:endParaRPr lang="en-US" sz="1600" dirty="0"/>
          </a:p>
        </p:txBody>
      </p:sp>
      <p:sp>
        <p:nvSpPr>
          <p:cNvPr id="10" name="Text 8"/>
          <p:cNvSpPr/>
          <p:nvPr/>
        </p:nvSpPr>
        <p:spPr>
          <a:xfrm>
            <a:off x="731520" y="2423160"/>
            <a:ext cx="7680960" cy="32004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One Platform  •  Better Decisions  •  Higher Income  •  Empowered Farmers</a:t>
            </a:r>
            <a:endParaRPr lang="en-US" sz="1100" dirty="0"/>
          </a:p>
        </p:txBody>
      </p:sp>
      <p:sp>
        <p:nvSpPr>
          <p:cNvPr id="11" name="Shape 9"/>
          <p:cNvSpPr/>
          <p:nvPr/>
        </p:nvSpPr>
        <p:spPr>
          <a:xfrm>
            <a:off x="731520" y="2926080"/>
            <a:ext cx="1828800" cy="868680"/>
          </a:xfrm>
          <a:prstGeom prst="roundRect">
            <a:avLst>
              <a:gd name="adj" fmla="val 8421"/>
            </a:avLst>
          </a:prstGeom>
          <a:solidFill>
            <a:srgbClr val="0F3E26"/>
          </a:solidFill>
          <a:ln w="12700">
            <a:solidFill>
              <a:srgbClr val="22C55E"/>
            </a:solidFill>
            <a:prstDash val="solid"/>
          </a:ln>
        </p:spPr>
      </p:sp>
      <p:sp>
        <p:nvSpPr>
          <p:cNvPr id="12" name="Text 10"/>
          <p:cNvSpPr/>
          <p:nvPr/>
        </p:nvSpPr>
        <p:spPr>
          <a:xfrm>
            <a:off x="731520" y="301752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30 Crops</a:t>
            </a:r>
            <a:endParaRPr lang="en-US" sz="1300" dirty="0"/>
          </a:p>
        </p:txBody>
      </p:sp>
      <p:sp>
        <p:nvSpPr>
          <p:cNvPr id="13" name="Text 11"/>
          <p:cNvSpPr/>
          <p:nvPr/>
        </p:nvSpPr>
        <p:spPr>
          <a:xfrm>
            <a:off x="731520" y="338328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ICAR Agronomic Data</a:t>
            </a:r>
            <a:endParaRPr lang="en-US" sz="800" dirty="0"/>
          </a:p>
        </p:txBody>
      </p:sp>
      <p:sp>
        <p:nvSpPr>
          <p:cNvPr id="14" name="Shape 12"/>
          <p:cNvSpPr/>
          <p:nvPr/>
        </p:nvSpPr>
        <p:spPr>
          <a:xfrm>
            <a:off x="2697480" y="2926080"/>
            <a:ext cx="1828800" cy="868680"/>
          </a:xfrm>
          <a:prstGeom prst="roundRect">
            <a:avLst>
              <a:gd name="adj" fmla="val 8421"/>
            </a:avLst>
          </a:prstGeom>
          <a:solidFill>
            <a:srgbClr val="0F3E26"/>
          </a:solidFill>
          <a:ln w="12700">
            <a:solidFill>
              <a:srgbClr val="22C55E"/>
            </a:solidFill>
            <a:prstDash val="solid"/>
          </a:ln>
        </p:spPr>
      </p:sp>
      <p:sp>
        <p:nvSpPr>
          <p:cNvPr id="15" name="Text 13"/>
          <p:cNvSpPr/>
          <p:nvPr/>
        </p:nvSpPr>
        <p:spPr>
          <a:xfrm>
            <a:off x="2697480" y="301752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58 Mandis</a:t>
            </a:r>
            <a:endParaRPr lang="en-US" sz="1300" dirty="0"/>
          </a:p>
        </p:txBody>
      </p:sp>
      <p:sp>
        <p:nvSpPr>
          <p:cNvPr id="16" name="Text 14"/>
          <p:cNvSpPr/>
          <p:nvPr/>
        </p:nvSpPr>
        <p:spPr>
          <a:xfrm>
            <a:off x="2697480" y="338328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Live APMC Price Feeds</a:t>
            </a:r>
            <a:endParaRPr lang="en-US" sz="800" dirty="0"/>
          </a:p>
        </p:txBody>
      </p:sp>
      <p:sp>
        <p:nvSpPr>
          <p:cNvPr id="17" name="Shape 15"/>
          <p:cNvSpPr/>
          <p:nvPr/>
        </p:nvSpPr>
        <p:spPr>
          <a:xfrm>
            <a:off x="4663440" y="2926080"/>
            <a:ext cx="1828800" cy="868680"/>
          </a:xfrm>
          <a:prstGeom prst="roundRect">
            <a:avLst>
              <a:gd name="adj" fmla="val 8421"/>
            </a:avLst>
          </a:prstGeom>
          <a:solidFill>
            <a:srgbClr val="0F3E26"/>
          </a:solidFill>
          <a:ln w="12700">
            <a:solidFill>
              <a:srgbClr val="22C55E"/>
            </a:solidFill>
            <a:prstDash val="solid"/>
          </a:ln>
        </p:spPr>
      </p:sp>
      <p:sp>
        <p:nvSpPr>
          <p:cNvPr id="18" name="Text 16"/>
          <p:cNvSpPr/>
          <p:nvPr/>
        </p:nvSpPr>
        <p:spPr>
          <a:xfrm>
            <a:off x="4663440" y="301752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16 Global Contracts</a:t>
            </a:r>
            <a:endParaRPr lang="en-US" sz="1300" dirty="0"/>
          </a:p>
        </p:txBody>
      </p:sp>
      <p:sp>
        <p:nvSpPr>
          <p:cNvPr id="19" name="Text 17"/>
          <p:cNvSpPr/>
          <p:nvPr/>
        </p:nvSpPr>
        <p:spPr>
          <a:xfrm>
            <a:off x="4663440" y="338328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APEDA Export Leads ($44.8M)</a:t>
            </a:r>
            <a:endParaRPr lang="en-US" sz="800" dirty="0"/>
          </a:p>
        </p:txBody>
      </p:sp>
      <p:sp>
        <p:nvSpPr>
          <p:cNvPr id="20" name="Shape 18"/>
          <p:cNvSpPr/>
          <p:nvPr/>
        </p:nvSpPr>
        <p:spPr>
          <a:xfrm>
            <a:off x="6629400" y="2926080"/>
            <a:ext cx="1828800" cy="868680"/>
          </a:xfrm>
          <a:prstGeom prst="roundRect">
            <a:avLst>
              <a:gd name="adj" fmla="val 8421"/>
            </a:avLst>
          </a:prstGeom>
          <a:solidFill>
            <a:srgbClr val="0F3E26"/>
          </a:solidFill>
          <a:ln w="12700">
            <a:solidFill>
              <a:srgbClr val="22C55E"/>
            </a:solidFill>
            <a:prstDash val="solid"/>
          </a:ln>
        </p:spPr>
      </p:sp>
      <p:sp>
        <p:nvSpPr>
          <p:cNvPr id="21" name="Text 19"/>
          <p:cNvSpPr/>
          <p:nvPr/>
        </p:nvSpPr>
        <p:spPr>
          <a:xfrm>
            <a:off x="6629400" y="3017520"/>
            <a:ext cx="18288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 Languages</a:t>
            </a:r>
            <a:endParaRPr lang="en-US" sz="1300" dirty="0"/>
          </a:p>
        </p:txBody>
      </p:sp>
      <p:sp>
        <p:nvSpPr>
          <p:cNvPr id="22" name="Text 20"/>
          <p:cNvSpPr/>
          <p:nvPr/>
        </p:nvSpPr>
        <p:spPr>
          <a:xfrm>
            <a:off x="6629400" y="3383280"/>
            <a:ext cx="1828800" cy="320040"/>
          </a:xfrm>
          <a:prstGeom prst="rect">
            <a:avLst/>
          </a:prstGeom>
          <a:noFill/>
          <a:ln/>
        </p:spPr>
        <p:txBody>
          <a:bodyPr wrap="square" rtlCol="0" anchor="ctr"/>
          <a:lstStyle/>
          <a:p>
            <a:pPr algn="ctr" indent="0" marL="0">
              <a:buNone/>
            </a:pPr>
            <a:r>
              <a:rPr lang="en-US" sz="800" dirty="0">
                <a:solidFill>
                  <a:srgbClr val="A7F3D0"/>
                </a:solidFill>
                <a:latin typeface="Arial" pitchFamily="34" charset="0"/>
                <a:ea typeface="Arial" pitchFamily="34" charset="-122"/>
                <a:cs typeface="Arial" pitchFamily="34" charset="-120"/>
              </a:rPr>
              <a:t>100% Full-DOM Engine</a:t>
            </a:r>
            <a:endParaRPr lang="en-US" sz="800" dirty="0"/>
          </a:p>
        </p:txBody>
      </p:sp>
      <p:sp>
        <p:nvSpPr>
          <p:cNvPr id="23" name="Shape 21"/>
          <p:cNvSpPr/>
          <p:nvPr/>
        </p:nvSpPr>
        <p:spPr>
          <a:xfrm>
            <a:off x="731520" y="4023360"/>
            <a:ext cx="7680960" cy="640080"/>
          </a:xfrm>
          <a:prstGeom prst="roundRect">
            <a:avLst>
              <a:gd name="adj" fmla="val 8571"/>
            </a:avLst>
          </a:prstGeom>
          <a:solidFill>
            <a:srgbClr val="051B10"/>
          </a:solidFill>
          <a:ln w="12700">
            <a:solidFill>
              <a:srgbClr val="15803D"/>
            </a:solidFill>
            <a:prstDash val="solid"/>
          </a:ln>
        </p:spPr>
      </p:sp>
      <p:sp>
        <p:nvSpPr>
          <p:cNvPr id="24" name="Text 22"/>
          <p:cNvSpPr/>
          <p:nvPr/>
        </p:nvSpPr>
        <p:spPr>
          <a:xfrm>
            <a:off x="822960" y="4069080"/>
            <a:ext cx="7498080" cy="548640"/>
          </a:xfrm>
          <a:prstGeom prst="rect">
            <a:avLst/>
          </a:prstGeom>
          <a:noFill/>
          <a:ln/>
        </p:spPr>
        <p:txBody>
          <a:bodyPr wrap="square" rtlCol="0" anchor="ctr"/>
          <a:lstStyle/>
          <a:p>
            <a:pPr algn="ctr" indent="0" marL="0">
              <a:buNone/>
            </a:pPr>
            <a:r>
              <a:rPr lang="en-US" sz="950" dirty="0">
                <a:solidFill>
                  <a:srgbClr val="CBD5E1"/>
                </a:solidFill>
                <a:latin typeface="Arial" pitchFamily="34" charset="0"/>
                <a:ea typeface="Arial" pitchFamily="34" charset="-122"/>
                <a:cs typeface="Arial" pitchFamily="34" charset="-120"/>
              </a:rPr>
              <a:t>Team #3414: Parallel Minds  |  Poornima College of Engineering, Jaipur  |  Live Prototype: http://localhost:5173/</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1. PROBLEM STATEMENT</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The Ground Reality of Indian Agriculture</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Why smallholder farmers remain trapped in cycles of debt, input wastage, and distress sales</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2468880" cy="2423160"/>
          </a:xfrm>
          <a:prstGeom prst="roundRect">
            <a:avLst>
              <a:gd name="adj" fmla="val 3019"/>
            </a:avLst>
          </a:prstGeom>
          <a:solidFill>
            <a:srgbClr val="F8FAFC"/>
          </a:solidFill>
          <a:ln w="12700">
            <a:solidFill>
              <a:srgbClr val="E2E8F0"/>
            </a:solidFill>
            <a:prstDash val="solid"/>
          </a:ln>
        </p:spPr>
      </p:sp>
      <p:sp>
        <p:nvSpPr>
          <p:cNvPr id="13" name="Text 11"/>
          <p:cNvSpPr/>
          <p:nvPr/>
        </p:nvSpPr>
        <p:spPr>
          <a:xfrm>
            <a:off x="868680" y="1600200"/>
            <a:ext cx="2194560" cy="41148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1. Information Asymmetry at Sowing</a:t>
            </a:r>
            <a:endParaRPr lang="en-US" sz="1050" dirty="0"/>
          </a:p>
        </p:txBody>
      </p:sp>
      <p:sp>
        <p:nvSpPr>
          <p:cNvPr id="14" name="Text 12"/>
          <p:cNvSpPr/>
          <p:nvPr/>
        </p:nvSpPr>
        <p:spPr>
          <a:xfrm>
            <a:off x="868680" y="2057400"/>
            <a:ext cx="2194560" cy="17373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Farmers select crops based on rumors or last season's high prices.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Synchronized gluts crash farm-gate prices (e.g., onions crashing to ₹3/kg).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Imbalanced NPK application leads to soil degradation and unnecessary debt.</a:t>
            </a:r>
            <a:endParaRPr lang="en-US" sz="800" dirty="0"/>
          </a:p>
        </p:txBody>
      </p:sp>
      <p:sp>
        <p:nvSpPr>
          <p:cNvPr id="15" name="Shape 13"/>
          <p:cNvSpPr/>
          <p:nvPr/>
        </p:nvSpPr>
        <p:spPr>
          <a:xfrm>
            <a:off x="3337560" y="1463040"/>
            <a:ext cx="2468880" cy="2423160"/>
          </a:xfrm>
          <a:prstGeom prst="roundRect">
            <a:avLst>
              <a:gd name="adj" fmla="val 3019"/>
            </a:avLst>
          </a:prstGeom>
          <a:solidFill>
            <a:srgbClr val="F8FAFC"/>
          </a:solidFill>
          <a:ln w="12700">
            <a:solidFill>
              <a:srgbClr val="E2E8F0"/>
            </a:solidFill>
            <a:prstDash val="solid"/>
          </a:ln>
        </p:spPr>
      </p:sp>
      <p:sp>
        <p:nvSpPr>
          <p:cNvPr id="16" name="Text 14"/>
          <p:cNvSpPr/>
          <p:nvPr/>
        </p:nvSpPr>
        <p:spPr>
          <a:xfrm>
            <a:off x="3474720" y="1600200"/>
            <a:ext cx="2194560" cy="41148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2. Multi-Layered Middlemen Exploitation</a:t>
            </a:r>
            <a:endParaRPr lang="en-US" sz="1050" dirty="0"/>
          </a:p>
        </p:txBody>
      </p:sp>
      <p:sp>
        <p:nvSpPr>
          <p:cNvPr id="17" name="Text 15"/>
          <p:cNvSpPr/>
          <p:nvPr/>
        </p:nvSpPr>
        <p:spPr>
          <a:xfrm>
            <a:off x="3474720" y="2057400"/>
            <a:ext cx="2194560" cy="17373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4 to 6 layers of commission agents stand between farm-gate and wholesale terminal.</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Intermediaries siphon 25% to 40% margin; farmer bears 100% weather &amp; pest risk.</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Distress sales of perishables (tomato, okra) due to zero advance forward demand.</a:t>
            </a:r>
            <a:endParaRPr lang="en-US" sz="800" dirty="0"/>
          </a:p>
        </p:txBody>
      </p:sp>
      <p:sp>
        <p:nvSpPr>
          <p:cNvPr id="18" name="Shape 16"/>
          <p:cNvSpPr/>
          <p:nvPr/>
        </p:nvSpPr>
        <p:spPr>
          <a:xfrm>
            <a:off x="5943600" y="1463040"/>
            <a:ext cx="2468880" cy="2423160"/>
          </a:xfrm>
          <a:prstGeom prst="roundRect">
            <a:avLst>
              <a:gd name="adj" fmla="val 3019"/>
            </a:avLst>
          </a:prstGeom>
          <a:solidFill>
            <a:srgbClr val="F8FAFC"/>
          </a:solidFill>
          <a:ln w="12700">
            <a:solidFill>
              <a:srgbClr val="E2E8F0"/>
            </a:solidFill>
            <a:prstDash val="solid"/>
          </a:ln>
        </p:spPr>
      </p:sp>
      <p:sp>
        <p:nvSpPr>
          <p:cNvPr id="19" name="Text 17"/>
          <p:cNvSpPr/>
          <p:nvPr/>
        </p:nvSpPr>
        <p:spPr>
          <a:xfrm>
            <a:off x="6080760" y="1600200"/>
            <a:ext cx="2194560" cy="41148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3. Disconnect from Export Opportunities</a:t>
            </a:r>
            <a:endParaRPr lang="en-US" sz="1050" dirty="0"/>
          </a:p>
        </p:txBody>
      </p:sp>
      <p:sp>
        <p:nvSpPr>
          <p:cNvPr id="20" name="Text 18"/>
          <p:cNvSpPr/>
          <p:nvPr/>
        </p:nvSpPr>
        <p:spPr>
          <a:xfrm>
            <a:off x="6080760" y="2057400"/>
            <a:ext cx="2194560" cy="17373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India exports $50B+ in agri-goods, but small farmers and FPOs have zero visibility.</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Overseas buyers pay 30% to 70% price premiums that never reach the producer.</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Complex statutory documents (Phytosanitary, IEC, MRLs) intimidate growers.</a:t>
            </a:r>
            <a:endParaRPr lang="en-US" sz="800" dirty="0"/>
          </a:p>
        </p:txBody>
      </p:sp>
      <p:sp>
        <p:nvSpPr>
          <p:cNvPr id="21" name="Shape 19"/>
          <p:cNvSpPr/>
          <p:nvPr/>
        </p:nvSpPr>
        <p:spPr>
          <a:xfrm>
            <a:off x="731520" y="4023360"/>
            <a:ext cx="7680960" cy="658368"/>
          </a:xfrm>
          <a:prstGeom prst="roundRect">
            <a:avLst>
              <a:gd name="adj" fmla="val 11111"/>
            </a:avLst>
          </a:prstGeom>
          <a:solidFill>
            <a:srgbClr val="FEF2F2"/>
          </a:solidFill>
          <a:ln w="12700">
            <a:solidFill>
              <a:srgbClr val="FCA5A5"/>
            </a:solidFill>
            <a:prstDash val="solid"/>
          </a:ln>
        </p:spPr>
      </p:sp>
      <p:sp>
        <p:nvSpPr>
          <p:cNvPr id="22" name="Text 20"/>
          <p:cNvSpPr/>
          <p:nvPr/>
        </p:nvSpPr>
        <p:spPr>
          <a:xfrm>
            <a:off x="914400" y="4096512"/>
            <a:ext cx="7315200" cy="502920"/>
          </a:xfrm>
          <a:prstGeom prst="rect">
            <a:avLst/>
          </a:prstGeom>
          <a:noFill/>
          <a:ln/>
        </p:spPr>
        <p:txBody>
          <a:bodyPr wrap="square" rtlCol="0" anchor="ctr"/>
          <a:lstStyle/>
          <a:p>
            <a:pPr indent="0" marL="0">
              <a:buNone/>
            </a:pPr>
            <a:r>
              <a:rPr lang="en-US" sz="950" b="1" dirty="0">
                <a:solidFill>
                  <a:srgbClr val="991B1B"/>
                </a:solidFill>
                <a:latin typeface="Arial" pitchFamily="34" charset="0"/>
                <a:ea typeface="Arial" pitchFamily="34" charset="-122"/>
                <a:cs typeface="Arial" pitchFamily="34" charset="-120"/>
              </a:rPr>
              <a:t>📉 THE REAL IMPACT: An average Indian smallholder loses ₹18,000 to ₹25,000 per acre annually due to unguided decisions, uncalibrated inputs, and middleman margin capture.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2. OUR SOLUTION</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Kisan Mitra: One Platform, Better Decisions, Higher Income</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An end-to-end digital ecosystem connecting farm telemetry to direct domestic and international markets</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2468880" cy="3200400"/>
          </a:xfrm>
          <a:prstGeom prst="roundRect">
            <a:avLst>
              <a:gd name="adj" fmla="val 2963"/>
            </a:avLst>
          </a:prstGeom>
          <a:solidFill>
            <a:srgbClr val="F8FAFC"/>
          </a:solidFill>
          <a:ln w="12700">
            <a:solidFill>
              <a:srgbClr val="E2E8F0"/>
            </a:solidFill>
            <a:prstDash val="solid"/>
          </a:ln>
        </p:spPr>
      </p:sp>
      <p:sp>
        <p:nvSpPr>
          <p:cNvPr id="13" name="Shape 11"/>
          <p:cNvSpPr/>
          <p:nvPr/>
        </p:nvSpPr>
        <p:spPr>
          <a:xfrm>
            <a:off x="841248" y="1572768"/>
            <a:ext cx="2240280" cy="228600"/>
          </a:xfrm>
          <a:prstGeom prst="roundRect">
            <a:avLst>
              <a:gd name="adj" fmla="val 16000"/>
            </a:avLst>
          </a:prstGeom>
          <a:solidFill>
            <a:srgbClr val="DCFCE7"/>
          </a:solidFill>
          <a:ln w="6350">
            <a:solidFill>
              <a:srgbClr val="15803D"/>
            </a:solidFill>
            <a:prstDash val="solid"/>
          </a:ln>
        </p:spPr>
      </p:sp>
      <p:sp>
        <p:nvSpPr>
          <p:cNvPr id="14" name="Text 12"/>
          <p:cNvSpPr/>
          <p:nvPr/>
        </p:nvSpPr>
        <p:spPr>
          <a:xfrm>
            <a:off x="841248" y="1572768"/>
            <a:ext cx="2240280" cy="228600"/>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FARMER PRODUCTION DESK</a:t>
            </a:r>
            <a:endParaRPr lang="en-US" sz="750" dirty="0"/>
          </a:p>
        </p:txBody>
      </p:sp>
      <p:sp>
        <p:nvSpPr>
          <p:cNvPr id="15" name="Text 13"/>
          <p:cNvSpPr/>
          <p:nvPr/>
        </p:nvSpPr>
        <p:spPr>
          <a:xfrm>
            <a:off x="841248" y="1874520"/>
            <a:ext cx="2240280" cy="32004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Smart Farmer Assistant</a:t>
            </a:r>
            <a:endParaRPr lang="en-US" sz="1050" dirty="0"/>
          </a:p>
        </p:txBody>
      </p:sp>
      <p:sp>
        <p:nvSpPr>
          <p:cNvPr id="16" name="Text 14"/>
          <p:cNvSpPr/>
          <p:nvPr/>
        </p:nvSpPr>
        <p:spPr>
          <a:xfrm>
            <a:off x="841248" y="2194560"/>
            <a:ext cx="2240280" cy="32004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Empowers the farmer with data-driven decision making before sowing:</a:t>
            </a:r>
            <a:endParaRPr lang="en-US" sz="800" dirty="0"/>
          </a:p>
        </p:txBody>
      </p:sp>
      <p:sp>
        <p:nvSpPr>
          <p:cNvPr id="17" name="Text 15"/>
          <p:cNvSpPr/>
          <p:nvPr/>
        </p:nvSpPr>
        <p:spPr>
          <a:xfrm>
            <a:off x="841248" y="2560320"/>
            <a:ext cx="2240280" cy="20116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Farm Profiling: Soil type, water source, land condition, budget.</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Crop Advisor: AI &amp; rule-based recommendations matching ICAR data.</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WHY This Crop?: Explainable agronomic and financial rationale.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Input Calculator: Seed, fertilizer doses (Urea, DAP, NPK), and net ROI.</a:t>
            </a:r>
            <a:endParaRPr lang="en-US" sz="800" dirty="0"/>
          </a:p>
        </p:txBody>
      </p:sp>
      <p:sp>
        <p:nvSpPr>
          <p:cNvPr id="18" name="Shape 16"/>
          <p:cNvSpPr/>
          <p:nvPr/>
        </p:nvSpPr>
        <p:spPr>
          <a:xfrm>
            <a:off x="3337560" y="1463040"/>
            <a:ext cx="2468880" cy="3200400"/>
          </a:xfrm>
          <a:prstGeom prst="roundRect">
            <a:avLst>
              <a:gd name="adj" fmla="val 2963"/>
            </a:avLst>
          </a:prstGeom>
          <a:solidFill>
            <a:srgbClr val="F8FAFC"/>
          </a:solidFill>
          <a:ln w="12700">
            <a:solidFill>
              <a:srgbClr val="E2E8F0"/>
            </a:solidFill>
            <a:prstDash val="solid"/>
          </a:ln>
        </p:spPr>
      </p:sp>
      <p:sp>
        <p:nvSpPr>
          <p:cNvPr id="19" name="Shape 17"/>
          <p:cNvSpPr/>
          <p:nvPr/>
        </p:nvSpPr>
        <p:spPr>
          <a:xfrm>
            <a:off x="3447288" y="1572768"/>
            <a:ext cx="2240280" cy="228600"/>
          </a:xfrm>
          <a:prstGeom prst="roundRect">
            <a:avLst>
              <a:gd name="adj" fmla="val 16000"/>
            </a:avLst>
          </a:prstGeom>
          <a:solidFill>
            <a:srgbClr val="F1F5F9"/>
          </a:solidFill>
          <a:ln w="6350">
            <a:solidFill>
              <a:srgbClr val="0F172A"/>
            </a:solidFill>
            <a:prstDash val="solid"/>
          </a:ln>
        </p:spPr>
      </p:sp>
      <p:sp>
        <p:nvSpPr>
          <p:cNvPr id="20" name="Text 18"/>
          <p:cNvSpPr/>
          <p:nvPr/>
        </p:nvSpPr>
        <p:spPr>
          <a:xfrm>
            <a:off x="3447288" y="1572768"/>
            <a:ext cx="2240280" cy="228600"/>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COMMERCIAL TRADING DESK</a:t>
            </a:r>
            <a:endParaRPr lang="en-US" sz="750" dirty="0"/>
          </a:p>
        </p:txBody>
      </p:sp>
      <p:sp>
        <p:nvSpPr>
          <p:cNvPr id="21" name="Text 19"/>
          <p:cNvSpPr/>
          <p:nvPr/>
        </p:nvSpPr>
        <p:spPr>
          <a:xfrm>
            <a:off x="3447288" y="1874520"/>
            <a:ext cx="2240280" cy="32004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Direct Crop Marketplace</a:t>
            </a:r>
            <a:endParaRPr lang="en-US" sz="1050" dirty="0"/>
          </a:p>
        </p:txBody>
      </p:sp>
      <p:sp>
        <p:nvSpPr>
          <p:cNvPr id="22" name="Text 20"/>
          <p:cNvSpPr/>
          <p:nvPr/>
        </p:nvSpPr>
        <p:spPr>
          <a:xfrm>
            <a:off x="3447288" y="2194560"/>
            <a:ext cx="2240280" cy="32004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Eliminates commission brokers by connecting farmers with genuine buyers:</a:t>
            </a:r>
            <a:endParaRPr lang="en-US" sz="800" dirty="0"/>
          </a:p>
        </p:txBody>
      </p:sp>
      <p:sp>
        <p:nvSpPr>
          <p:cNvPr id="23" name="Text 21"/>
          <p:cNvSpPr/>
          <p:nvPr/>
        </p:nvSpPr>
        <p:spPr>
          <a:xfrm>
            <a:off x="3447288" y="2560320"/>
            <a:ext cx="2240280" cy="20116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Zero-Brokerage Listings: 20 verified lots across agricultural hubs.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Quality Verification: AGMARK grades, certified moisture %, photos.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Mandi Arbitrage: Compare asking price against nearest APMC rate.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Institutional Inquiries: Direct offers from BigBasket, Reliance, MDH.</a:t>
            </a:r>
            <a:endParaRPr lang="en-US" sz="800" dirty="0"/>
          </a:p>
        </p:txBody>
      </p:sp>
      <p:sp>
        <p:nvSpPr>
          <p:cNvPr id="24" name="Shape 22"/>
          <p:cNvSpPr/>
          <p:nvPr/>
        </p:nvSpPr>
        <p:spPr>
          <a:xfrm>
            <a:off x="5943600" y="1463040"/>
            <a:ext cx="2468880" cy="3200400"/>
          </a:xfrm>
          <a:prstGeom prst="roundRect">
            <a:avLst>
              <a:gd name="adj" fmla="val 2963"/>
            </a:avLst>
          </a:prstGeom>
          <a:solidFill>
            <a:srgbClr val="F8FAFC"/>
          </a:solidFill>
          <a:ln w="12700">
            <a:solidFill>
              <a:srgbClr val="E2E8F0"/>
            </a:solidFill>
            <a:prstDash val="solid"/>
          </a:ln>
        </p:spPr>
      </p:sp>
      <p:sp>
        <p:nvSpPr>
          <p:cNvPr id="25" name="Shape 23"/>
          <p:cNvSpPr/>
          <p:nvPr/>
        </p:nvSpPr>
        <p:spPr>
          <a:xfrm>
            <a:off x="6053328" y="1572768"/>
            <a:ext cx="2240280" cy="228600"/>
          </a:xfrm>
          <a:prstGeom prst="roundRect">
            <a:avLst>
              <a:gd name="adj" fmla="val 16000"/>
            </a:avLst>
          </a:prstGeom>
          <a:solidFill>
            <a:srgbClr val="FEF3C7"/>
          </a:solidFill>
          <a:ln w="6350">
            <a:solidFill>
              <a:srgbClr val="B45309"/>
            </a:solidFill>
            <a:prstDash val="solid"/>
          </a:ln>
        </p:spPr>
      </p:sp>
      <p:sp>
        <p:nvSpPr>
          <p:cNvPr id="26" name="Text 24"/>
          <p:cNvSpPr/>
          <p:nvPr/>
        </p:nvSpPr>
        <p:spPr>
          <a:xfrm>
            <a:off x="6053328" y="1572768"/>
            <a:ext cx="2240280" cy="228600"/>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GLOBAL EXPORT &amp; GOVERNANCE</a:t>
            </a:r>
            <a:endParaRPr lang="en-US" sz="750" dirty="0"/>
          </a:p>
        </p:txBody>
      </p:sp>
      <p:sp>
        <p:nvSpPr>
          <p:cNvPr id="27" name="Text 25"/>
          <p:cNvSpPr/>
          <p:nvPr/>
        </p:nvSpPr>
        <p:spPr>
          <a:xfrm>
            <a:off x="6053328" y="1874520"/>
            <a:ext cx="2240280" cy="32004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International Export Desk</a:t>
            </a:r>
            <a:endParaRPr lang="en-US" sz="1050" dirty="0"/>
          </a:p>
        </p:txBody>
      </p:sp>
      <p:sp>
        <p:nvSpPr>
          <p:cNvPr id="28" name="Text 26"/>
          <p:cNvSpPr/>
          <p:nvPr/>
        </p:nvSpPr>
        <p:spPr>
          <a:xfrm>
            <a:off x="6053328" y="2194560"/>
            <a:ext cx="2240280" cy="32004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Unlocks high-value overseas demand grounded in APEDA &amp; DGFT leads:</a:t>
            </a:r>
            <a:endParaRPr lang="en-US" sz="800" dirty="0"/>
          </a:p>
        </p:txBody>
      </p:sp>
      <p:sp>
        <p:nvSpPr>
          <p:cNvPr id="29" name="Text 27"/>
          <p:cNvSpPr/>
          <p:nvPr/>
        </p:nvSpPr>
        <p:spPr>
          <a:xfrm>
            <a:off x="6053328" y="2560320"/>
            <a:ext cx="2240280" cy="201168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16 Bilateral Contracts: $44.8M demand across 16 countries.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Export Arbitrage: 20% to 73% price premiums over domestic mandis.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Statutory Checklists: Phytosanitary, IEC, CEPA Origin, FSSAI.</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RoDTEP Rebates: Government cash export incentives calculated live.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3. PROCESS FLOW</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HOW KISAN MITRA WORKS: A Complete Digital Journey</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From Farm Details to Fair Price — Guiding the farmer across every milestone</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508760"/>
            <a:ext cx="1234440" cy="2240280"/>
          </a:xfrm>
          <a:prstGeom prst="roundRect">
            <a:avLst>
              <a:gd name="adj" fmla="val 5926"/>
            </a:avLst>
          </a:prstGeom>
          <a:solidFill>
            <a:srgbClr val="F8FAFC"/>
          </a:solidFill>
          <a:ln w="12700">
            <a:solidFill>
              <a:srgbClr val="E2E8F0"/>
            </a:solidFill>
            <a:prstDash val="solid"/>
          </a:ln>
        </p:spPr>
      </p:sp>
      <p:sp>
        <p:nvSpPr>
          <p:cNvPr id="13" name="Shape 11"/>
          <p:cNvSpPr/>
          <p:nvPr/>
        </p:nvSpPr>
        <p:spPr>
          <a:xfrm>
            <a:off x="1143000" y="1645920"/>
            <a:ext cx="411480" cy="411480"/>
          </a:xfrm>
          <a:prstGeom prst="ellipse">
            <a:avLst/>
          </a:prstGeom>
          <a:solidFill>
            <a:srgbClr val="15803D"/>
          </a:solidFill>
          <a:ln w="12700">
            <a:solidFill>
              <a:srgbClr val="15803D"/>
            </a:solidFill>
            <a:prstDash val="solid"/>
          </a:ln>
        </p:spPr>
      </p:sp>
      <p:sp>
        <p:nvSpPr>
          <p:cNvPr id="14" name="Text 12"/>
          <p:cNvSpPr/>
          <p:nvPr/>
        </p:nvSpPr>
        <p:spPr>
          <a:xfrm>
            <a:off x="1143000"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5" name="Text 13"/>
          <p:cNvSpPr/>
          <p:nvPr/>
        </p:nvSpPr>
        <p:spPr>
          <a:xfrm>
            <a:off x="804672"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Register &amp; Farm Profile</a:t>
            </a:r>
            <a:endParaRPr lang="en-US" sz="900" dirty="0"/>
          </a:p>
        </p:txBody>
      </p:sp>
      <p:sp>
        <p:nvSpPr>
          <p:cNvPr id="16" name="Text 14"/>
          <p:cNvSpPr/>
          <p:nvPr/>
        </p:nvSpPr>
        <p:spPr>
          <a:xfrm>
            <a:off x="804672"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Sign up as farmer. Add land area, soil type, irrigation setup, and season.</a:t>
            </a:r>
            <a:endParaRPr lang="en-US" sz="750" dirty="0"/>
          </a:p>
        </p:txBody>
      </p:sp>
      <p:sp>
        <p:nvSpPr>
          <p:cNvPr id="17" name="Shape 15"/>
          <p:cNvSpPr/>
          <p:nvPr/>
        </p:nvSpPr>
        <p:spPr>
          <a:xfrm>
            <a:off x="2029968" y="1508760"/>
            <a:ext cx="1234440" cy="2240280"/>
          </a:xfrm>
          <a:prstGeom prst="roundRect">
            <a:avLst>
              <a:gd name="adj" fmla="val 5926"/>
            </a:avLst>
          </a:prstGeom>
          <a:solidFill>
            <a:srgbClr val="F8FAFC"/>
          </a:solidFill>
          <a:ln w="12700">
            <a:solidFill>
              <a:srgbClr val="E2E8F0"/>
            </a:solidFill>
            <a:prstDash val="solid"/>
          </a:ln>
        </p:spPr>
      </p:sp>
      <p:sp>
        <p:nvSpPr>
          <p:cNvPr id="18" name="Shape 16"/>
          <p:cNvSpPr/>
          <p:nvPr/>
        </p:nvSpPr>
        <p:spPr>
          <a:xfrm>
            <a:off x="2441448" y="1645920"/>
            <a:ext cx="411480" cy="411480"/>
          </a:xfrm>
          <a:prstGeom prst="ellipse">
            <a:avLst/>
          </a:prstGeom>
          <a:solidFill>
            <a:srgbClr val="15803D"/>
          </a:solidFill>
          <a:ln w="12700">
            <a:solidFill>
              <a:srgbClr val="15803D"/>
            </a:solidFill>
            <a:prstDash val="solid"/>
          </a:ln>
        </p:spPr>
      </p:sp>
      <p:sp>
        <p:nvSpPr>
          <p:cNvPr id="19" name="Text 17"/>
          <p:cNvSpPr/>
          <p:nvPr/>
        </p:nvSpPr>
        <p:spPr>
          <a:xfrm>
            <a:off x="2441448"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0" name="Text 18"/>
          <p:cNvSpPr/>
          <p:nvPr/>
        </p:nvSpPr>
        <p:spPr>
          <a:xfrm>
            <a:off x="2103120"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Crop Recommendations</a:t>
            </a:r>
            <a:endParaRPr lang="en-US" sz="900" dirty="0"/>
          </a:p>
        </p:txBody>
      </p:sp>
      <p:sp>
        <p:nvSpPr>
          <p:cNvPr id="21" name="Text 19"/>
          <p:cNvSpPr/>
          <p:nvPr/>
        </p:nvSpPr>
        <p:spPr>
          <a:xfrm>
            <a:off x="2103120"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AI/Rule-based suggestions based on ICAR data with match scores &amp; advisories.</a:t>
            </a:r>
            <a:endParaRPr lang="en-US" sz="750" dirty="0"/>
          </a:p>
        </p:txBody>
      </p:sp>
      <p:sp>
        <p:nvSpPr>
          <p:cNvPr id="22" name="Shape 20"/>
          <p:cNvSpPr/>
          <p:nvPr/>
        </p:nvSpPr>
        <p:spPr>
          <a:xfrm>
            <a:off x="3328416" y="1508760"/>
            <a:ext cx="1234440" cy="2240280"/>
          </a:xfrm>
          <a:prstGeom prst="roundRect">
            <a:avLst>
              <a:gd name="adj" fmla="val 5926"/>
            </a:avLst>
          </a:prstGeom>
          <a:solidFill>
            <a:srgbClr val="F8FAFC"/>
          </a:solidFill>
          <a:ln w="12700">
            <a:solidFill>
              <a:srgbClr val="E2E8F0"/>
            </a:solidFill>
            <a:prstDash val="solid"/>
          </a:ln>
        </p:spPr>
      </p:sp>
      <p:sp>
        <p:nvSpPr>
          <p:cNvPr id="23" name="Shape 21"/>
          <p:cNvSpPr/>
          <p:nvPr/>
        </p:nvSpPr>
        <p:spPr>
          <a:xfrm>
            <a:off x="3739896" y="1645920"/>
            <a:ext cx="411480" cy="411480"/>
          </a:xfrm>
          <a:prstGeom prst="ellipse">
            <a:avLst/>
          </a:prstGeom>
          <a:solidFill>
            <a:srgbClr val="15803D"/>
          </a:solidFill>
          <a:ln w="12700">
            <a:solidFill>
              <a:srgbClr val="15803D"/>
            </a:solidFill>
            <a:prstDash val="solid"/>
          </a:ln>
        </p:spPr>
      </p:sp>
      <p:sp>
        <p:nvSpPr>
          <p:cNvPr id="24" name="Text 22"/>
          <p:cNvSpPr/>
          <p:nvPr/>
        </p:nvSpPr>
        <p:spPr>
          <a:xfrm>
            <a:off x="3739896"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Text 23"/>
          <p:cNvSpPr/>
          <p:nvPr/>
        </p:nvSpPr>
        <p:spPr>
          <a:xfrm>
            <a:off x="3401568"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Inputs &amp; Cost Estimation</a:t>
            </a:r>
            <a:endParaRPr lang="en-US" sz="900" dirty="0"/>
          </a:p>
        </p:txBody>
      </p:sp>
      <p:sp>
        <p:nvSpPr>
          <p:cNvPr id="26" name="Text 24"/>
          <p:cNvSpPr/>
          <p:nvPr/>
        </p:nvSpPr>
        <p:spPr>
          <a:xfrm>
            <a:off x="3401568"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Calculate seed, fertilizer (Urea/DAP/MOP) and machinery budget.</a:t>
            </a:r>
            <a:endParaRPr lang="en-US" sz="750" dirty="0"/>
          </a:p>
        </p:txBody>
      </p:sp>
      <p:sp>
        <p:nvSpPr>
          <p:cNvPr id="27" name="Shape 25"/>
          <p:cNvSpPr/>
          <p:nvPr/>
        </p:nvSpPr>
        <p:spPr>
          <a:xfrm>
            <a:off x="4626864" y="1508760"/>
            <a:ext cx="1234440" cy="2240280"/>
          </a:xfrm>
          <a:prstGeom prst="roundRect">
            <a:avLst>
              <a:gd name="adj" fmla="val 5926"/>
            </a:avLst>
          </a:prstGeom>
          <a:solidFill>
            <a:srgbClr val="F8FAFC"/>
          </a:solidFill>
          <a:ln w="12700">
            <a:solidFill>
              <a:srgbClr val="E2E8F0"/>
            </a:solidFill>
            <a:prstDash val="solid"/>
          </a:ln>
        </p:spPr>
      </p:sp>
      <p:sp>
        <p:nvSpPr>
          <p:cNvPr id="28" name="Shape 26"/>
          <p:cNvSpPr/>
          <p:nvPr/>
        </p:nvSpPr>
        <p:spPr>
          <a:xfrm>
            <a:off x="5038344" y="1645920"/>
            <a:ext cx="411480" cy="411480"/>
          </a:xfrm>
          <a:prstGeom prst="ellipse">
            <a:avLst/>
          </a:prstGeom>
          <a:solidFill>
            <a:srgbClr val="15803D"/>
          </a:solidFill>
          <a:ln w="12700">
            <a:solidFill>
              <a:srgbClr val="15803D"/>
            </a:solidFill>
            <a:prstDash val="solid"/>
          </a:ln>
        </p:spPr>
      </p:sp>
      <p:sp>
        <p:nvSpPr>
          <p:cNvPr id="29" name="Text 27"/>
          <p:cNvSpPr/>
          <p:nvPr/>
        </p:nvSpPr>
        <p:spPr>
          <a:xfrm>
            <a:off x="5038344"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Text 28"/>
          <p:cNvSpPr/>
          <p:nvPr/>
        </p:nvSpPr>
        <p:spPr>
          <a:xfrm>
            <a:off x="4700016"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Seasonal Calendar</a:t>
            </a:r>
            <a:endParaRPr lang="en-US" sz="900" dirty="0"/>
          </a:p>
        </p:txBody>
      </p:sp>
      <p:sp>
        <p:nvSpPr>
          <p:cNvPr id="31" name="Text 29"/>
          <p:cNvSpPr/>
          <p:nvPr/>
        </p:nvSpPr>
        <p:spPr>
          <a:xfrm>
            <a:off x="4700016"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Plan farming activities month-wise across Kharif, Rabi, and Zaid seasons.</a:t>
            </a:r>
            <a:endParaRPr lang="en-US" sz="750" dirty="0"/>
          </a:p>
        </p:txBody>
      </p:sp>
      <p:sp>
        <p:nvSpPr>
          <p:cNvPr id="32" name="Shape 30"/>
          <p:cNvSpPr/>
          <p:nvPr/>
        </p:nvSpPr>
        <p:spPr>
          <a:xfrm>
            <a:off x="5925312" y="1508760"/>
            <a:ext cx="1234440" cy="2240280"/>
          </a:xfrm>
          <a:prstGeom prst="roundRect">
            <a:avLst>
              <a:gd name="adj" fmla="val 5926"/>
            </a:avLst>
          </a:prstGeom>
          <a:solidFill>
            <a:srgbClr val="F8FAFC"/>
          </a:solidFill>
          <a:ln w="12700">
            <a:solidFill>
              <a:srgbClr val="E2E8F0"/>
            </a:solidFill>
            <a:prstDash val="solid"/>
          </a:ln>
        </p:spPr>
      </p:sp>
      <p:sp>
        <p:nvSpPr>
          <p:cNvPr id="33" name="Shape 31"/>
          <p:cNvSpPr/>
          <p:nvPr/>
        </p:nvSpPr>
        <p:spPr>
          <a:xfrm>
            <a:off x="6336792" y="1645920"/>
            <a:ext cx="411480" cy="411480"/>
          </a:xfrm>
          <a:prstGeom prst="ellipse">
            <a:avLst/>
          </a:prstGeom>
          <a:solidFill>
            <a:srgbClr val="15803D"/>
          </a:solidFill>
          <a:ln w="12700">
            <a:solidFill>
              <a:srgbClr val="15803D"/>
            </a:solidFill>
            <a:prstDash val="solid"/>
          </a:ln>
        </p:spPr>
      </p:sp>
      <p:sp>
        <p:nvSpPr>
          <p:cNvPr id="34" name="Text 32"/>
          <p:cNvSpPr/>
          <p:nvPr/>
        </p:nvSpPr>
        <p:spPr>
          <a:xfrm>
            <a:off x="6336792"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5" name="Text 33"/>
          <p:cNvSpPr/>
          <p:nvPr/>
        </p:nvSpPr>
        <p:spPr>
          <a:xfrm>
            <a:off x="5998464"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Check Market Prices</a:t>
            </a:r>
            <a:endParaRPr lang="en-US" sz="900" dirty="0"/>
          </a:p>
        </p:txBody>
      </p:sp>
      <p:sp>
        <p:nvSpPr>
          <p:cNvPr id="36" name="Text 34"/>
          <p:cNvSpPr/>
          <p:nvPr/>
        </p:nvSpPr>
        <p:spPr>
          <a:xfrm>
            <a:off x="5998464"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Explore 58 live APMC mandi prices, 30-day price trends, and MSP comparisons.</a:t>
            </a:r>
            <a:endParaRPr lang="en-US" sz="750" dirty="0"/>
          </a:p>
        </p:txBody>
      </p:sp>
      <p:sp>
        <p:nvSpPr>
          <p:cNvPr id="37" name="Shape 35"/>
          <p:cNvSpPr/>
          <p:nvPr/>
        </p:nvSpPr>
        <p:spPr>
          <a:xfrm>
            <a:off x="7223760" y="1508760"/>
            <a:ext cx="1234440" cy="2240280"/>
          </a:xfrm>
          <a:prstGeom prst="roundRect">
            <a:avLst>
              <a:gd name="adj" fmla="val 5926"/>
            </a:avLst>
          </a:prstGeom>
          <a:solidFill>
            <a:srgbClr val="F8FAFC"/>
          </a:solidFill>
          <a:ln w="12700">
            <a:solidFill>
              <a:srgbClr val="E2E8F0"/>
            </a:solidFill>
            <a:prstDash val="solid"/>
          </a:ln>
        </p:spPr>
      </p:sp>
      <p:sp>
        <p:nvSpPr>
          <p:cNvPr id="38" name="Shape 36"/>
          <p:cNvSpPr/>
          <p:nvPr/>
        </p:nvSpPr>
        <p:spPr>
          <a:xfrm>
            <a:off x="7635240" y="1645920"/>
            <a:ext cx="411480" cy="411480"/>
          </a:xfrm>
          <a:prstGeom prst="ellipse">
            <a:avLst/>
          </a:prstGeom>
          <a:solidFill>
            <a:srgbClr val="15803D"/>
          </a:solidFill>
          <a:ln w="12700">
            <a:solidFill>
              <a:srgbClr val="15803D"/>
            </a:solidFill>
            <a:prstDash val="solid"/>
          </a:ln>
        </p:spPr>
      </p:sp>
      <p:sp>
        <p:nvSpPr>
          <p:cNvPr id="39" name="Text 37"/>
          <p:cNvSpPr/>
          <p:nvPr/>
        </p:nvSpPr>
        <p:spPr>
          <a:xfrm>
            <a:off x="7635240" y="1645920"/>
            <a:ext cx="4114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0" name="Text 38"/>
          <p:cNvSpPr/>
          <p:nvPr/>
        </p:nvSpPr>
        <p:spPr>
          <a:xfrm>
            <a:off x="7296912" y="2148840"/>
            <a:ext cx="1097280" cy="502920"/>
          </a:xfrm>
          <a:prstGeom prst="rect">
            <a:avLst/>
          </a:prstGeom>
          <a:noFill/>
          <a:ln/>
        </p:spPr>
        <p:txBody>
          <a:bodyPr wrap="square" rtlCol="0" anchor="ctr"/>
          <a:lstStyle/>
          <a:p>
            <a:pPr algn="ctr" indent="0" marL="0">
              <a:buNone/>
            </a:pPr>
            <a:r>
              <a:rPr lang="en-US" sz="900" b="1" dirty="0">
                <a:solidFill>
                  <a:srgbClr val="0F172A"/>
                </a:solidFill>
                <a:latin typeface="Arial" pitchFamily="34" charset="0"/>
                <a:ea typeface="Arial" pitchFamily="34" charset="-122"/>
                <a:cs typeface="Arial" pitchFamily="34" charset="-120"/>
              </a:rPr>
              <a:t>List &amp; Sell Produce</a:t>
            </a:r>
            <a:endParaRPr lang="en-US" sz="900" dirty="0"/>
          </a:p>
        </p:txBody>
      </p:sp>
      <p:sp>
        <p:nvSpPr>
          <p:cNvPr id="41" name="Text 39"/>
          <p:cNvSpPr/>
          <p:nvPr/>
        </p:nvSpPr>
        <p:spPr>
          <a:xfrm>
            <a:off x="7296912" y="2697480"/>
            <a:ext cx="1097280" cy="960120"/>
          </a:xfrm>
          <a:prstGeom prst="rect">
            <a:avLst/>
          </a:prstGeom>
          <a:noFill/>
          <a:ln/>
        </p:spPr>
        <p:txBody>
          <a:bodyPr wrap="square" rtlCol="0" anchor="ctr"/>
          <a:lstStyle/>
          <a:p>
            <a:pPr algn="ctr" indent="0" marL="0">
              <a:buNone/>
            </a:pPr>
            <a:r>
              <a:rPr lang="en-US" sz="750" dirty="0">
                <a:solidFill>
                  <a:srgbClr val="1E293B"/>
                </a:solidFill>
                <a:latin typeface="Arial" pitchFamily="34" charset="0"/>
                <a:ea typeface="Arial" pitchFamily="34" charset="-122"/>
                <a:cs typeface="Arial" pitchFamily="34" charset="-120"/>
              </a:rPr>
              <a:t>Post harvest listings, connect directly with buyers, and negotiate fair prices.</a:t>
            </a:r>
            <a:endParaRPr lang="en-US" sz="750" dirty="0"/>
          </a:p>
        </p:txBody>
      </p:sp>
      <p:sp>
        <p:nvSpPr>
          <p:cNvPr id="42" name="Shape 40"/>
          <p:cNvSpPr/>
          <p:nvPr/>
        </p:nvSpPr>
        <p:spPr>
          <a:xfrm>
            <a:off x="731520" y="3886200"/>
            <a:ext cx="2468880" cy="777240"/>
          </a:xfrm>
          <a:prstGeom prst="roundRect">
            <a:avLst>
              <a:gd name="adj" fmla="val 7059"/>
            </a:avLst>
          </a:prstGeom>
          <a:solidFill>
            <a:srgbClr val="F1F5F9"/>
          </a:solidFill>
          <a:ln w="6350">
            <a:solidFill>
              <a:srgbClr val="E2E8F0"/>
            </a:solidFill>
            <a:prstDash val="solid"/>
          </a:ln>
        </p:spPr>
      </p:sp>
      <p:sp>
        <p:nvSpPr>
          <p:cNvPr id="43" name="Text 41"/>
          <p:cNvSpPr/>
          <p:nvPr/>
        </p:nvSpPr>
        <p:spPr>
          <a:xfrm>
            <a:off x="822960" y="3950208"/>
            <a:ext cx="228600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Key Enablers</a:t>
            </a:r>
            <a:endParaRPr lang="en-US" sz="850" dirty="0"/>
          </a:p>
        </p:txBody>
      </p:sp>
      <p:sp>
        <p:nvSpPr>
          <p:cNvPr id="44" name="Text 42"/>
          <p:cNvSpPr/>
          <p:nvPr/>
        </p:nvSpPr>
        <p:spPr>
          <a:xfrm>
            <a:off x="822960" y="4187952"/>
            <a:ext cx="2286000" cy="43891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User-Friendly Web Platform • Reliable ICAR/APEDA Data • 100% Local Language UI • Mobile &amp; Desktop Responsive</a:t>
            </a:r>
            <a:endParaRPr lang="en-US" sz="750" dirty="0"/>
          </a:p>
        </p:txBody>
      </p:sp>
      <p:sp>
        <p:nvSpPr>
          <p:cNvPr id="45" name="Shape 43"/>
          <p:cNvSpPr/>
          <p:nvPr/>
        </p:nvSpPr>
        <p:spPr>
          <a:xfrm>
            <a:off x="3337560" y="3886200"/>
            <a:ext cx="2468880" cy="777240"/>
          </a:xfrm>
          <a:prstGeom prst="roundRect">
            <a:avLst>
              <a:gd name="adj" fmla="val 7059"/>
            </a:avLst>
          </a:prstGeom>
          <a:solidFill>
            <a:srgbClr val="F1F5F9"/>
          </a:solidFill>
          <a:ln w="6350">
            <a:solidFill>
              <a:srgbClr val="E2E8F0"/>
            </a:solidFill>
            <a:prstDash val="solid"/>
          </a:ln>
        </p:spPr>
      </p:sp>
      <p:sp>
        <p:nvSpPr>
          <p:cNvPr id="46" name="Text 44"/>
          <p:cNvSpPr/>
          <p:nvPr/>
        </p:nvSpPr>
        <p:spPr>
          <a:xfrm>
            <a:off x="3429000" y="3950208"/>
            <a:ext cx="228600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Expected Outcome</a:t>
            </a:r>
            <a:endParaRPr lang="en-US" sz="850" dirty="0"/>
          </a:p>
        </p:txBody>
      </p:sp>
      <p:sp>
        <p:nvSpPr>
          <p:cNvPr id="47" name="Text 45"/>
          <p:cNvSpPr/>
          <p:nvPr/>
        </p:nvSpPr>
        <p:spPr>
          <a:xfrm>
            <a:off x="3429000" y="4187952"/>
            <a:ext cx="2286000" cy="43891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Increased Farmer Income • Better Agronomic Decisions • Reduced Input Costs • Fairer Market Access</a:t>
            </a:r>
            <a:endParaRPr lang="en-US" sz="750" dirty="0"/>
          </a:p>
        </p:txBody>
      </p:sp>
      <p:sp>
        <p:nvSpPr>
          <p:cNvPr id="48" name="Shape 46"/>
          <p:cNvSpPr/>
          <p:nvPr/>
        </p:nvSpPr>
        <p:spPr>
          <a:xfrm>
            <a:off x="5943600" y="3886200"/>
            <a:ext cx="2468880" cy="777240"/>
          </a:xfrm>
          <a:prstGeom prst="roundRect">
            <a:avLst>
              <a:gd name="adj" fmla="val 7059"/>
            </a:avLst>
          </a:prstGeom>
          <a:solidFill>
            <a:srgbClr val="F1F5F9"/>
          </a:solidFill>
          <a:ln w="6350">
            <a:solidFill>
              <a:srgbClr val="E2E8F0"/>
            </a:solidFill>
            <a:prstDash val="solid"/>
          </a:ln>
        </p:spPr>
      </p:sp>
      <p:sp>
        <p:nvSpPr>
          <p:cNvPr id="49" name="Text 47"/>
          <p:cNvSpPr/>
          <p:nvPr/>
        </p:nvSpPr>
        <p:spPr>
          <a:xfrm>
            <a:off x="6035040" y="3950208"/>
            <a:ext cx="228600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Long-Term Impact</a:t>
            </a:r>
            <a:endParaRPr lang="en-US" sz="850" dirty="0"/>
          </a:p>
        </p:txBody>
      </p:sp>
      <p:sp>
        <p:nvSpPr>
          <p:cNvPr id="50" name="Text 48"/>
          <p:cNvSpPr/>
          <p:nvPr/>
        </p:nvSpPr>
        <p:spPr>
          <a:xfrm>
            <a:off x="6035040" y="4187952"/>
            <a:ext cx="2286000" cy="43891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Empowered Farmers • Stronger Rural Economy • Sustainable Agriculture • Contribution to Atmanirbhar Bharat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4. RESEARCH &amp; REFERENCES</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Evidence-Based Foundation for KISAN MITRA</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Built on credible government portals, scientific publications, and official open data</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2468880" cy="1371600"/>
          </a:xfrm>
          <a:prstGeom prst="roundRect">
            <a:avLst>
              <a:gd name="adj" fmla="val 5333"/>
            </a:avLst>
          </a:prstGeom>
          <a:solidFill>
            <a:srgbClr val="F8FAFC"/>
          </a:solidFill>
          <a:ln w="12700">
            <a:solidFill>
              <a:srgbClr val="E2E8F0"/>
            </a:solidFill>
            <a:prstDash val="solid"/>
          </a:ln>
        </p:spPr>
      </p:sp>
      <p:sp>
        <p:nvSpPr>
          <p:cNvPr id="13" name="Shape 11"/>
          <p:cNvSpPr/>
          <p:nvPr/>
        </p:nvSpPr>
        <p:spPr>
          <a:xfrm>
            <a:off x="868680" y="1600200"/>
            <a:ext cx="320040" cy="256032"/>
          </a:xfrm>
          <a:prstGeom prst="roundRect">
            <a:avLst>
              <a:gd name="adj" fmla="val 14286"/>
            </a:avLst>
          </a:prstGeom>
          <a:solidFill>
            <a:srgbClr val="DCFCE7"/>
          </a:solidFill>
          <a:ln w="6350">
            <a:solidFill>
              <a:srgbClr val="15803D"/>
            </a:solidFill>
            <a:prstDash val="solid"/>
          </a:ln>
        </p:spPr>
      </p:sp>
      <p:sp>
        <p:nvSpPr>
          <p:cNvPr id="14" name="Text 12"/>
          <p:cNvSpPr/>
          <p:nvPr/>
        </p:nvSpPr>
        <p:spPr>
          <a:xfrm>
            <a:off x="868680" y="160020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1</a:t>
            </a:r>
            <a:endParaRPr lang="en-US" sz="900" dirty="0"/>
          </a:p>
        </p:txBody>
      </p:sp>
      <p:sp>
        <p:nvSpPr>
          <p:cNvPr id="15" name="Text 13"/>
          <p:cNvSpPr/>
          <p:nvPr/>
        </p:nvSpPr>
        <p:spPr>
          <a:xfrm>
            <a:off x="1261872" y="160020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e-NAM</a:t>
            </a:r>
            <a:endParaRPr lang="en-US" sz="1050" dirty="0"/>
          </a:p>
        </p:txBody>
      </p:sp>
      <p:sp>
        <p:nvSpPr>
          <p:cNvPr id="16" name="Text 14"/>
          <p:cNvSpPr/>
          <p:nvPr/>
        </p:nvSpPr>
        <p:spPr>
          <a:xfrm>
            <a:off x="868680" y="190195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National Electronic Agriculture Market</a:t>
            </a:r>
            <a:endParaRPr lang="en-US" sz="750" dirty="0"/>
          </a:p>
        </p:txBody>
      </p:sp>
      <p:sp>
        <p:nvSpPr>
          <p:cNvPr id="17" name="Text 15"/>
          <p:cNvSpPr/>
          <p:nvPr/>
        </p:nvSpPr>
        <p:spPr>
          <a:xfrm>
            <a:off x="868680" y="214884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Pan-India electronic trading portal for price discovery and direct market linkages.</a:t>
            </a:r>
            <a:endParaRPr lang="en-US" sz="750" dirty="0"/>
          </a:p>
        </p:txBody>
      </p:sp>
      <p:sp>
        <p:nvSpPr>
          <p:cNvPr id="18" name="Text 16"/>
          <p:cNvSpPr/>
          <p:nvPr/>
        </p:nvSpPr>
        <p:spPr>
          <a:xfrm>
            <a:off x="868680" y="256032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https://enam.gov.in</a:t>
            </a:r>
            <a:endParaRPr lang="en-US" sz="700" dirty="0"/>
          </a:p>
        </p:txBody>
      </p:sp>
      <p:sp>
        <p:nvSpPr>
          <p:cNvPr id="19" name="Shape 17"/>
          <p:cNvSpPr/>
          <p:nvPr/>
        </p:nvSpPr>
        <p:spPr>
          <a:xfrm>
            <a:off x="3337560" y="1463040"/>
            <a:ext cx="2468880" cy="1371600"/>
          </a:xfrm>
          <a:prstGeom prst="roundRect">
            <a:avLst>
              <a:gd name="adj" fmla="val 5333"/>
            </a:avLst>
          </a:prstGeom>
          <a:solidFill>
            <a:srgbClr val="F8FAFC"/>
          </a:solidFill>
          <a:ln w="12700">
            <a:solidFill>
              <a:srgbClr val="E2E8F0"/>
            </a:solidFill>
            <a:prstDash val="solid"/>
          </a:ln>
        </p:spPr>
      </p:sp>
      <p:sp>
        <p:nvSpPr>
          <p:cNvPr id="20" name="Shape 18"/>
          <p:cNvSpPr/>
          <p:nvPr/>
        </p:nvSpPr>
        <p:spPr>
          <a:xfrm>
            <a:off x="3474720" y="1600200"/>
            <a:ext cx="320040" cy="256032"/>
          </a:xfrm>
          <a:prstGeom prst="roundRect">
            <a:avLst>
              <a:gd name="adj" fmla="val 14286"/>
            </a:avLst>
          </a:prstGeom>
          <a:solidFill>
            <a:srgbClr val="DCFCE7"/>
          </a:solidFill>
          <a:ln w="6350">
            <a:solidFill>
              <a:srgbClr val="15803D"/>
            </a:solidFill>
            <a:prstDash val="solid"/>
          </a:ln>
        </p:spPr>
      </p:sp>
      <p:sp>
        <p:nvSpPr>
          <p:cNvPr id="21" name="Text 19"/>
          <p:cNvSpPr/>
          <p:nvPr/>
        </p:nvSpPr>
        <p:spPr>
          <a:xfrm>
            <a:off x="3474720" y="160020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2</a:t>
            </a:r>
            <a:endParaRPr lang="en-US" sz="900" dirty="0"/>
          </a:p>
        </p:txBody>
      </p:sp>
      <p:sp>
        <p:nvSpPr>
          <p:cNvPr id="22" name="Text 20"/>
          <p:cNvSpPr/>
          <p:nvPr/>
        </p:nvSpPr>
        <p:spPr>
          <a:xfrm>
            <a:off x="3867912" y="160020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AGMARKNET</a:t>
            </a:r>
            <a:endParaRPr lang="en-US" sz="1050" dirty="0"/>
          </a:p>
        </p:txBody>
      </p:sp>
      <p:sp>
        <p:nvSpPr>
          <p:cNvPr id="23" name="Text 21"/>
          <p:cNvSpPr/>
          <p:nvPr/>
        </p:nvSpPr>
        <p:spPr>
          <a:xfrm>
            <a:off x="3474720" y="190195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Directorate of Marketing &amp; Inspection, GOI</a:t>
            </a:r>
            <a:endParaRPr lang="en-US" sz="750" dirty="0"/>
          </a:p>
        </p:txBody>
      </p:sp>
      <p:sp>
        <p:nvSpPr>
          <p:cNvPr id="24" name="Text 22"/>
          <p:cNvSpPr/>
          <p:nvPr/>
        </p:nvSpPr>
        <p:spPr>
          <a:xfrm>
            <a:off x="3474720" y="214884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Mandi-wise commodity arrivals, modal, min and max daily wholesale prices.</a:t>
            </a:r>
            <a:endParaRPr lang="en-US" sz="750" dirty="0"/>
          </a:p>
        </p:txBody>
      </p:sp>
      <p:sp>
        <p:nvSpPr>
          <p:cNvPr id="25" name="Text 23"/>
          <p:cNvSpPr/>
          <p:nvPr/>
        </p:nvSpPr>
        <p:spPr>
          <a:xfrm>
            <a:off x="3474720" y="256032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https://agmarknet.gov.in</a:t>
            </a:r>
            <a:endParaRPr lang="en-US" sz="700" dirty="0"/>
          </a:p>
        </p:txBody>
      </p:sp>
      <p:sp>
        <p:nvSpPr>
          <p:cNvPr id="26" name="Shape 24"/>
          <p:cNvSpPr/>
          <p:nvPr/>
        </p:nvSpPr>
        <p:spPr>
          <a:xfrm>
            <a:off x="5943600" y="1463040"/>
            <a:ext cx="2468880" cy="1371600"/>
          </a:xfrm>
          <a:prstGeom prst="roundRect">
            <a:avLst>
              <a:gd name="adj" fmla="val 5333"/>
            </a:avLst>
          </a:prstGeom>
          <a:solidFill>
            <a:srgbClr val="F8FAFC"/>
          </a:solidFill>
          <a:ln w="12700">
            <a:solidFill>
              <a:srgbClr val="E2E8F0"/>
            </a:solidFill>
            <a:prstDash val="solid"/>
          </a:ln>
        </p:spPr>
      </p:sp>
      <p:sp>
        <p:nvSpPr>
          <p:cNvPr id="27" name="Shape 25"/>
          <p:cNvSpPr/>
          <p:nvPr/>
        </p:nvSpPr>
        <p:spPr>
          <a:xfrm>
            <a:off x="6080760" y="1600200"/>
            <a:ext cx="320040" cy="256032"/>
          </a:xfrm>
          <a:prstGeom prst="roundRect">
            <a:avLst>
              <a:gd name="adj" fmla="val 14286"/>
            </a:avLst>
          </a:prstGeom>
          <a:solidFill>
            <a:srgbClr val="DCFCE7"/>
          </a:solidFill>
          <a:ln w="6350">
            <a:solidFill>
              <a:srgbClr val="15803D"/>
            </a:solidFill>
            <a:prstDash val="solid"/>
          </a:ln>
        </p:spPr>
      </p:sp>
      <p:sp>
        <p:nvSpPr>
          <p:cNvPr id="28" name="Text 26"/>
          <p:cNvSpPr/>
          <p:nvPr/>
        </p:nvSpPr>
        <p:spPr>
          <a:xfrm>
            <a:off x="6080760" y="160020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3</a:t>
            </a:r>
            <a:endParaRPr lang="en-US" sz="900" dirty="0"/>
          </a:p>
        </p:txBody>
      </p:sp>
      <p:sp>
        <p:nvSpPr>
          <p:cNvPr id="29" name="Text 27"/>
          <p:cNvSpPr/>
          <p:nvPr/>
        </p:nvSpPr>
        <p:spPr>
          <a:xfrm>
            <a:off x="6473952" y="160020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ICAR</a:t>
            </a:r>
            <a:endParaRPr lang="en-US" sz="1050" dirty="0"/>
          </a:p>
        </p:txBody>
      </p:sp>
      <p:sp>
        <p:nvSpPr>
          <p:cNvPr id="30" name="Text 28"/>
          <p:cNvSpPr/>
          <p:nvPr/>
        </p:nvSpPr>
        <p:spPr>
          <a:xfrm>
            <a:off x="6080760" y="190195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Indian Council of Agricultural Research</a:t>
            </a:r>
            <a:endParaRPr lang="en-US" sz="750" dirty="0"/>
          </a:p>
        </p:txBody>
      </p:sp>
      <p:sp>
        <p:nvSpPr>
          <p:cNvPr id="31" name="Text 29"/>
          <p:cNvSpPr/>
          <p:nvPr/>
        </p:nvSpPr>
        <p:spPr>
          <a:xfrm>
            <a:off x="6080760" y="214884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Crop advisories, duration, agro-climatic zones, and standard N-P-K nutrient packages.</a:t>
            </a:r>
            <a:endParaRPr lang="en-US" sz="750" dirty="0"/>
          </a:p>
        </p:txBody>
      </p:sp>
      <p:sp>
        <p:nvSpPr>
          <p:cNvPr id="32" name="Text 30"/>
          <p:cNvSpPr/>
          <p:nvPr/>
        </p:nvSpPr>
        <p:spPr>
          <a:xfrm>
            <a:off x="6080760" y="256032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https://icar.gov.in</a:t>
            </a:r>
            <a:endParaRPr lang="en-US" sz="700" dirty="0"/>
          </a:p>
        </p:txBody>
      </p:sp>
      <p:sp>
        <p:nvSpPr>
          <p:cNvPr id="33" name="Shape 31"/>
          <p:cNvSpPr/>
          <p:nvPr/>
        </p:nvSpPr>
        <p:spPr>
          <a:xfrm>
            <a:off x="731520" y="2971800"/>
            <a:ext cx="2468880" cy="1371600"/>
          </a:xfrm>
          <a:prstGeom prst="roundRect">
            <a:avLst>
              <a:gd name="adj" fmla="val 5333"/>
            </a:avLst>
          </a:prstGeom>
          <a:solidFill>
            <a:srgbClr val="F8FAFC"/>
          </a:solidFill>
          <a:ln w="12700">
            <a:solidFill>
              <a:srgbClr val="E2E8F0"/>
            </a:solidFill>
            <a:prstDash val="solid"/>
          </a:ln>
        </p:spPr>
      </p:sp>
      <p:sp>
        <p:nvSpPr>
          <p:cNvPr id="34" name="Shape 32"/>
          <p:cNvSpPr/>
          <p:nvPr/>
        </p:nvSpPr>
        <p:spPr>
          <a:xfrm>
            <a:off x="868680" y="3108960"/>
            <a:ext cx="320040" cy="256032"/>
          </a:xfrm>
          <a:prstGeom prst="roundRect">
            <a:avLst>
              <a:gd name="adj" fmla="val 14286"/>
            </a:avLst>
          </a:prstGeom>
          <a:solidFill>
            <a:srgbClr val="DCFCE7"/>
          </a:solidFill>
          <a:ln w="6350">
            <a:solidFill>
              <a:srgbClr val="15803D"/>
            </a:solidFill>
            <a:prstDash val="solid"/>
          </a:ln>
        </p:spPr>
      </p:sp>
      <p:sp>
        <p:nvSpPr>
          <p:cNvPr id="35" name="Text 33"/>
          <p:cNvSpPr/>
          <p:nvPr/>
        </p:nvSpPr>
        <p:spPr>
          <a:xfrm>
            <a:off x="868680" y="310896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4</a:t>
            </a:r>
            <a:endParaRPr lang="en-US" sz="900" dirty="0"/>
          </a:p>
        </p:txBody>
      </p:sp>
      <p:sp>
        <p:nvSpPr>
          <p:cNvPr id="36" name="Text 34"/>
          <p:cNvSpPr/>
          <p:nvPr/>
        </p:nvSpPr>
        <p:spPr>
          <a:xfrm>
            <a:off x="1261872" y="310896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India Data Portal</a:t>
            </a:r>
            <a:endParaRPr lang="en-US" sz="1050" dirty="0"/>
          </a:p>
        </p:txBody>
      </p:sp>
      <p:sp>
        <p:nvSpPr>
          <p:cNvPr id="37" name="Text 35"/>
          <p:cNvSpPr/>
          <p:nvPr/>
        </p:nvSpPr>
        <p:spPr>
          <a:xfrm>
            <a:off x="868680" y="341071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Open Government Data (data.gov.in)</a:t>
            </a:r>
            <a:endParaRPr lang="en-US" sz="750" dirty="0"/>
          </a:p>
        </p:txBody>
      </p:sp>
      <p:sp>
        <p:nvSpPr>
          <p:cNvPr id="38" name="Text 36"/>
          <p:cNvSpPr/>
          <p:nvPr/>
        </p:nvSpPr>
        <p:spPr>
          <a:xfrm>
            <a:off x="868680" y="365760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Public agricultural datasets on soil, weather, crop production, and acreage statistics.</a:t>
            </a:r>
            <a:endParaRPr lang="en-US" sz="750" dirty="0"/>
          </a:p>
        </p:txBody>
      </p:sp>
      <p:sp>
        <p:nvSpPr>
          <p:cNvPr id="39" name="Text 37"/>
          <p:cNvSpPr/>
          <p:nvPr/>
        </p:nvSpPr>
        <p:spPr>
          <a:xfrm>
            <a:off x="868680" y="406908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https://data.gov.in</a:t>
            </a:r>
            <a:endParaRPr lang="en-US" sz="700" dirty="0"/>
          </a:p>
        </p:txBody>
      </p:sp>
      <p:sp>
        <p:nvSpPr>
          <p:cNvPr id="40" name="Shape 38"/>
          <p:cNvSpPr/>
          <p:nvPr/>
        </p:nvSpPr>
        <p:spPr>
          <a:xfrm>
            <a:off x="3337560" y="2971800"/>
            <a:ext cx="2468880" cy="1371600"/>
          </a:xfrm>
          <a:prstGeom prst="roundRect">
            <a:avLst>
              <a:gd name="adj" fmla="val 5333"/>
            </a:avLst>
          </a:prstGeom>
          <a:solidFill>
            <a:srgbClr val="F8FAFC"/>
          </a:solidFill>
          <a:ln w="12700">
            <a:solidFill>
              <a:srgbClr val="E2E8F0"/>
            </a:solidFill>
            <a:prstDash val="solid"/>
          </a:ln>
        </p:spPr>
      </p:sp>
      <p:sp>
        <p:nvSpPr>
          <p:cNvPr id="41" name="Shape 39"/>
          <p:cNvSpPr/>
          <p:nvPr/>
        </p:nvSpPr>
        <p:spPr>
          <a:xfrm>
            <a:off x="3474720" y="3108960"/>
            <a:ext cx="320040" cy="256032"/>
          </a:xfrm>
          <a:prstGeom prst="roundRect">
            <a:avLst>
              <a:gd name="adj" fmla="val 14286"/>
            </a:avLst>
          </a:prstGeom>
          <a:solidFill>
            <a:srgbClr val="DCFCE7"/>
          </a:solidFill>
          <a:ln w="6350">
            <a:solidFill>
              <a:srgbClr val="15803D"/>
            </a:solidFill>
            <a:prstDash val="solid"/>
          </a:ln>
        </p:spPr>
      </p:sp>
      <p:sp>
        <p:nvSpPr>
          <p:cNvPr id="42" name="Text 40"/>
          <p:cNvSpPr/>
          <p:nvPr/>
        </p:nvSpPr>
        <p:spPr>
          <a:xfrm>
            <a:off x="3474720" y="310896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5</a:t>
            </a:r>
            <a:endParaRPr lang="en-US" sz="900" dirty="0"/>
          </a:p>
        </p:txBody>
      </p:sp>
      <p:sp>
        <p:nvSpPr>
          <p:cNvPr id="43" name="Text 41"/>
          <p:cNvSpPr/>
          <p:nvPr/>
        </p:nvSpPr>
        <p:spPr>
          <a:xfrm>
            <a:off x="3867912" y="310896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IMD</a:t>
            </a:r>
            <a:endParaRPr lang="en-US" sz="1050" dirty="0"/>
          </a:p>
        </p:txBody>
      </p:sp>
      <p:sp>
        <p:nvSpPr>
          <p:cNvPr id="44" name="Text 42"/>
          <p:cNvSpPr/>
          <p:nvPr/>
        </p:nvSpPr>
        <p:spPr>
          <a:xfrm>
            <a:off x="3474720" y="341071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India Meteorological Department</a:t>
            </a:r>
            <a:endParaRPr lang="en-US" sz="750" dirty="0"/>
          </a:p>
        </p:txBody>
      </p:sp>
      <p:sp>
        <p:nvSpPr>
          <p:cNvPr id="45" name="Text 43"/>
          <p:cNvSpPr/>
          <p:nvPr/>
        </p:nvSpPr>
        <p:spPr>
          <a:xfrm>
            <a:off x="3474720" y="365760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Weather forecasts, rainfall patterns, and agro-meteorological seasonal advisories.</a:t>
            </a:r>
            <a:endParaRPr lang="en-US" sz="750" dirty="0"/>
          </a:p>
        </p:txBody>
      </p:sp>
      <p:sp>
        <p:nvSpPr>
          <p:cNvPr id="46" name="Text 44"/>
          <p:cNvSpPr/>
          <p:nvPr/>
        </p:nvSpPr>
        <p:spPr>
          <a:xfrm>
            <a:off x="3474720" y="406908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https://mausam.imd.gov.in</a:t>
            </a:r>
            <a:endParaRPr lang="en-US" sz="700" dirty="0"/>
          </a:p>
        </p:txBody>
      </p:sp>
      <p:sp>
        <p:nvSpPr>
          <p:cNvPr id="47" name="Shape 45"/>
          <p:cNvSpPr/>
          <p:nvPr/>
        </p:nvSpPr>
        <p:spPr>
          <a:xfrm>
            <a:off x="5943600" y="2971800"/>
            <a:ext cx="2468880" cy="1371600"/>
          </a:xfrm>
          <a:prstGeom prst="roundRect">
            <a:avLst>
              <a:gd name="adj" fmla="val 5333"/>
            </a:avLst>
          </a:prstGeom>
          <a:solidFill>
            <a:srgbClr val="F8FAFC"/>
          </a:solidFill>
          <a:ln w="12700">
            <a:solidFill>
              <a:srgbClr val="E2E8F0"/>
            </a:solidFill>
            <a:prstDash val="solid"/>
          </a:ln>
        </p:spPr>
      </p:sp>
      <p:sp>
        <p:nvSpPr>
          <p:cNvPr id="48" name="Shape 46"/>
          <p:cNvSpPr/>
          <p:nvPr/>
        </p:nvSpPr>
        <p:spPr>
          <a:xfrm>
            <a:off x="6080760" y="3108960"/>
            <a:ext cx="320040" cy="256032"/>
          </a:xfrm>
          <a:prstGeom prst="roundRect">
            <a:avLst>
              <a:gd name="adj" fmla="val 14286"/>
            </a:avLst>
          </a:prstGeom>
          <a:solidFill>
            <a:srgbClr val="DCFCE7"/>
          </a:solidFill>
          <a:ln w="6350">
            <a:solidFill>
              <a:srgbClr val="15803D"/>
            </a:solidFill>
            <a:prstDash val="solid"/>
          </a:ln>
        </p:spPr>
      </p:sp>
      <p:sp>
        <p:nvSpPr>
          <p:cNvPr id="49" name="Text 47"/>
          <p:cNvSpPr/>
          <p:nvPr/>
        </p:nvSpPr>
        <p:spPr>
          <a:xfrm>
            <a:off x="6080760" y="3108960"/>
            <a:ext cx="320040" cy="256032"/>
          </a:xfrm>
          <a:prstGeom prst="rect">
            <a:avLst/>
          </a:prstGeom>
          <a:noFill/>
          <a:ln/>
        </p:spPr>
        <p:txBody>
          <a:bodyPr wrap="square"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6</a:t>
            </a:r>
            <a:endParaRPr lang="en-US" sz="900" dirty="0"/>
          </a:p>
        </p:txBody>
      </p:sp>
      <p:sp>
        <p:nvSpPr>
          <p:cNvPr id="50" name="Text 48"/>
          <p:cNvSpPr/>
          <p:nvPr/>
        </p:nvSpPr>
        <p:spPr>
          <a:xfrm>
            <a:off x="6473952" y="3108960"/>
            <a:ext cx="1828800" cy="256032"/>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NABARD &amp; APEDA</a:t>
            </a:r>
            <a:endParaRPr lang="en-US" sz="1050" dirty="0"/>
          </a:p>
        </p:txBody>
      </p:sp>
      <p:sp>
        <p:nvSpPr>
          <p:cNvPr id="51" name="Text 49"/>
          <p:cNvSpPr/>
          <p:nvPr/>
        </p:nvSpPr>
        <p:spPr>
          <a:xfrm>
            <a:off x="6080760" y="3410712"/>
            <a:ext cx="2194560" cy="22860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Agri-Refinance &amp; Export Promotion</a:t>
            </a:r>
            <a:endParaRPr lang="en-US" sz="750" dirty="0"/>
          </a:p>
        </p:txBody>
      </p:sp>
      <p:sp>
        <p:nvSpPr>
          <p:cNvPr id="52" name="Text 50"/>
          <p:cNvSpPr/>
          <p:nvPr/>
        </p:nvSpPr>
        <p:spPr>
          <a:xfrm>
            <a:off x="6080760" y="3657600"/>
            <a:ext cx="2194560" cy="411480"/>
          </a:xfrm>
          <a:prstGeom prst="rect">
            <a:avLst/>
          </a:prstGeom>
          <a:noFill/>
          <a:ln/>
        </p:spPr>
        <p:txBody>
          <a:bodyPr wrap="square" rtlCol="0" anchor="ctr"/>
          <a:lstStyle/>
          <a:p>
            <a:pPr indent="0" marL="0">
              <a:buNone/>
            </a:pPr>
            <a:r>
              <a:rPr lang="en-US" sz="750" dirty="0">
                <a:solidFill>
                  <a:srgbClr val="1E293B"/>
                </a:solidFill>
                <a:latin typeface="Arial" pitchFamily="34" charset="0"/>
                <a:ea typeface="Arial" pitchFamily="34" charset="-122"/>
                <a:cs typeface="Arial" pitchFamily="34" charset="-120"/>
              </a:rPr>
              <a:t>Rural market research, export standards, ITC-HS trade leads, and SPS protocols.</a:t>
            </a:r>
            <a:endParaRPr lang="en-US" sz="750" dirty="0"/>
          </a:p>
        </p:txBody>
      </p:sp>
      <p:sp>
        <p:nvSpPr>
          <p:cNvPr id="53" name="Text 51"/>
          <p:cNvSpPr/>
          <p:nvPr/>
        </p:nvSpPr>
        <p:spPr>
          <a:xfrm>
            <a:off x="6080760" y="4069080"/>
            <a:ext cx="2194560" cy="201168"/>
          </a:xfrm>
          <a:prstGeom prst="rect">
            <a:avLst/>
          </a:prstGeom>
          <a:noFill/>
          <a:ln/>
        </p:spPr>
        <p:txBody>
          <a:bodyPr wrap="square" rtlCol="0" anchor="ctr"/>
          <a:lstStyle/>
          <a:p>
            <a:pPr indent="0" marL="0">
              <a:buNone/>
            </a:pPr>
            <a:r>
              <a:rPr lang="en-US" sz="700" dirty="0">
                <a:solidFill>
                  <a:srgbClr val="0369A1"/>
                </a:solidFill>
                <a:latin typeface="Arial" pitchFamily="34" charset="0"/>
                <a:ea typeface="Arial" pitchFamily="34" charset="-122"/>
                <a:cs typeface="Arial" pitchFamily="34" charset="-120"/>
              </a:rPr>
              <a:t>🔗 https://apeda.gov.in</a:t>
            </a:r>
            <a:endParaRPr lang="en-US" sz="700" dirty="0"/>
          </a:p>
        </p:txBody>
      </p:sp>
      <p:sp>
        <p:nvSpPr>
          <p:cNvPr id="54" name="Shape 52"/>
          <p:cNvSpPr/>
          <p:nvPr/>
        </p:nvSpPr>
        <p:spPr>
          <a:xfrm>
            <a:off x="731520" y="4160520"/>
            <a:ext cx="7680960" cy="530352"/>
          </a:xfrm>
          <a:prstGeom prst="roundRect">
            <a:avLst>
              <a:gd name="adj" fmla="val 10345"/>
            </a:avLst>
          </a:prstGeom>
          <a:solidFill>
            <a:srgbClr val="DCFCE7"/>
          </a:solidFill>
          <a:ln w="6350">
            <a:solidFill>
              <a:srgbClr val="15803D"/>
            </a:solidFill>
            <a:prstDash val="solid"/>
          </a:ln>
        </p:spPr>
      </p:sp>
      <p:sp>
        <p:nvSpPr>
          <p:cNvPr id="55" name="Text 53"/>
          <p:cNvSpPr/>
          <p:nvPr/>
        </p:nvSpPr>
        <p:spPr>
          <a:xfrm>
            <a:off x="914400" y="4206240"/>
            <a:ext cx="7315200" cy="438912"/>
          </a:xfrm>
          <a:prstGeom prst="rect">
            <a:avLst/>
          </a:prstGeom>
          <a:noFill/>
          <a:ln/>
        </p:spPr>
        <p:txBody>
          <a:bodyPr wrap="square" rtlCol="0" anchor="ctr"/>
          <a:lstStyle/>
          <a:p>
            <a:pPr indent="0" marL="0">
              <a:buNone/>
            </a:pPr>
            <a:r>
              <a:rPr lang="en-US" sz="850" b="1" dirty="0">
                <a:solidFill>
                  <a:srgbClr val="064E3B"/>
                </a:solidFill>
                <a:latin typeface="Arial" pitchFamily="34" charset="0"/>
                <a:ea typeface="Arial" pitchFamily="34" charset="-122"/>
                <a:cs typeface="Arial" pitchFamily="34" charset="-120"/>
              </a:rPr>
              <a:t>🌱 How These References Support Kisan Mitra: Crop recommendations are grounded in ICAR advisories; mandi rates reflect daily Agmarknet bulletins; and international trade leads originate from APEDA &amp; DGFT portals.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5. CORE INNOVATIONS</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Technological Novelty &amp; Unmatched USPs</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Key innovations that elevate Kisan Mitra above conventional agricultural portals</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3749040" cy="1463040"/>
          </a:xfrm>
          <a:prstGeom prst="roundRect">
            <a:avLst>
              <a:gd name="adj" fmla="val 5000"/>
            </a:avLst>
          </a:prstGeom>
          <a:solidFill>
            <a:srgbClr val="F8FAFC"/>
          </a:solidFill>
          <a:ln w="12700">
            <a:solidFill>
              <a:srgbClr val="E2E8F0"/>
            </a:solidFill>
            <a:prstDash val="solid"/>
          </a:ln>
        </p:spPr>
      </p:sp>
      <p:sp>
        <p:nvSpPr>
          <p:cNvPr id="13" name="Shape 11"/>
          <p:cNvSpPr/>
          <p:nvPr/>
        </p:nvSpPr>
        <p:spPr>
          <a:xfrm>
            <a:off x="868680" y="1600200"/>
            <a:ext cx="411480" cy="320040"/>
          </a:xfrm>
          <a:prstGeom prst="roundRect">
            <a:avLst>
              <a:gd name="adj" fmla="val 14286"/>
            </a:avLst>
          </a:prstGeom>
          <a:solidFill>
            <a:srgbClr val="DCFCE7"/>
          </a:solidFill>
          <a:ln w="6350">
            <a:solidFill>
              <a:srgbClr val="15803D"/>
            </a:solidFill>
            <a:prstDash val="solid"/>
          </a:ln>
        </p:spPr>
      </p:sp>
      <p:sp>
        <p:nvSpPr>
          <p:cNvPr id="14" name="Text 12"/>
          <p:cNvSpPr/>
          <p:nvPr/>
        </p:nvSpPr>
        <p:spPr>
          <a:xfrm>
            <a:off x="868680" y="160020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01</a:t>
            </a:r>
            <a:endParaRPr lang="en-US" sz="1000" dirty="0"/>
          </a:p>
        </p:txBody>
      </p:sp>
      <p:sp>
        <p:nvSpPr>
          <p:cNvPr id="15" name="Text 13"/>
          <p:cNvSpPr/>
          <p:nvPr/>
        </p:nvSpPr>
        <p:spPr>
          <a:xfrm>
            <a:off x="1371600" y="160020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Explainable 'WHY This Crop?' Advisor</a:t>
            </a:r>
            <a:endParaRPr lang="en-US" sz="1100" dirty="0"/>
          </a:p>
        </p:txBody>
      </p:sp>
      <p:sp>
        <p:nvSpPr>
          <p:cNvPr id="16" name="Text 14"/>
          <p:cNvSpPr/>
          <p:nvPr/>
        </p:nvSpPr>
        <p:spPr>
          <a:xfrm>
            <a:off x="868680" y="1965960"/>
            <a:ext cx="3474720" cy="8686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Unlike black-box models, our rule engine gives transparent justifications: 'Matches Black soil moisture capacity, fits Kharif rainfall, aligns with your ₹45,000 budget, and fixes nitrogen after a gram pulse cycle.'</a:t>
            </a:r>
            <a:endParaRPr lang="en-US" sz="850" dirty="0"/>
          </a:p>
        </p:txBody>
      </p:sp>
      <p:sp>
        <p:nvSpPr>
          <p:cNvPr id="17" name="Shape 15"/>
          <p:cNvSpPr/>
          <p:nvPr/>
        </p:nvSpPr>
        <p:spPr>
          <a:xfrm>
            <a:off x="4663440" y="1463040"/>
            <a:ext cx="3749040" cy="1463040"/>
          </a:xfrm>
          <a:prstGeom prst="roundRect">
            <a:avLst>
              <a:gd name="adj" fmla="val 5000"/>
            </a:avLst>
          </a:prstGeom>
          <a:solidFill>
            <a:srgbClr val="F8FAFC"/>
          </a:solidFill>
          <a:ln w="12700">
            <a:solidFill>
              <a:srgbClr val="E2E8F0"/>
            </a:solidFill>
            <a:prstDash val="solid"/>
          </a:ln>
        </p:spPr>
      </p:sp>
      <p:sp>
        <p:nvSpPr>
          <p:cNvPr id="18" name="Shape 16"/>
          <p:cNvSpPr/>
          <p:nvPr/>
        </p:nvSpPr>
        <p:spPr>
          <a:xfrm>
            <a:off x="4800600" y="1600200"/>
            <a:ext cx="411480" cy="320040"/>
          </a:xfrm>
          <a:prstGeom prst="roundRect">
            <a:avLst>
              <a:gd name="adj" fmla="val 14286"/>
            </a:avLst>
          </a:prstGeom>
          <a:solidFill>
            <a:srgbClr val="DCFCE7"/>
          </a:solidFill>
          <a:ln w="6350">
            <a:solidFill>
              <a:srgbClr val="15803D"/>
            </a:solidFill>
            <a:prstDash val="solid"/>
          </a:ln>
        </p:spPr>
      </p:sp>
      <p:sp>
        <p:nvSpPr>
          <p:cNvPr id="19" name="Text 17"/>
          <p:cNvSpPr/>
          <p:nvPr/>
        </p:nvSpPr>
        <p:spPr>
          <a:xfrm>
            <a:off x="4800600" y="160020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02</a:t>
            </a:r>
            <a:endParaRPr lang="en-US" sz="1000" dirty="0"/>
          </a:p>
        </p:txBody>
      </p:sp>
      <p:sp>
        <p:nvSpPr>
          <p:cNvPr id="20" name="Text 18"/>
          <p:cNvSpPr/>
          <p:nvPr/>
        </p:nvSpPr>
        <p:spPr>
          <a:xfrm>
            <a:off x="5303520" y="160020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100% Full-DOM Regional Language Bridge</a:t>
            </a:r>
            <a:endParaRPr lang="en-US" sz="1100" dirty="0"/>
          </a:p>
        </p:txBody>
      </p:sp>
      <p:sp>
        <p:nvSpPr>
          <p:cNvPr id="21" name="Text 19"/>
          <p:cNvSpPr/>
          <p:nvPr/>
        </p:nvSpPr>
        <p:spPr>
          <a:xfrm>
            <a:off x="4800600" y="1965960"/>
            <a:ext cx="3474720" cy="8686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Translates 100% of the platform across all 3 portals into 9 Indian languages (Hindi, Marathi, Gujarati, Punjabi, Telugu, Tamil, Kannada, Bengali) with zero page reload, ensuring true grassroots rural adoption.</a:t>
            </a:r>
            <a:endParaRPr lang="en-US" sz="850" dirty="0"/>
          </a:p>
        </p:txBody>
      </p:sp>
      <p:sp>
        <p:nvSpPr>
          <p:cNvPr id="22" name="Shape 20"/>
          <p:cNvSpPr/>
          <p:nvPr/>
        </p:nvSpPr>
        <p:spPr>
          <a:xfrm>
            <a:off x="731520" y="3063240"/>
            <a:ext cx="3749040" cy="1463040"/>
          </a:xfrm>
          <a:prstGeom prst="roundRect">
            <a:avLst>
              <a:gd name="adj" fmla="val 5000"/>
            </a:avLst>
          </a:prstGeom>
          <a:solidFill>
            <a:srgbClr val="F8FAFC"/>
          </a:solidFill>
          <a:ln w="12700">
            <a:solidFill>
              <a:srgbClr val="E2E8F0"/>
            </a:solidFill>
            <a:prstDash val="solid"/>
          </a:ln>
        </p:spPr>
      </p:sp>
      <p:sp>
        <p:nvSpPr>
          <p:cNvPr id="23" name="Shape 21"/>
          <p:cNvSpPr/>
          <p:nvPr/>
        </p:nvSpPr>
        <p:spPr>
          <a:xfrm>
            <a:off x="868680" y="3200400"/>
            <a:ext cx="411480" cy="320040"/>
          </a:xfrm>
          <a:prstGeom prst="roundRect">
            <a:avLst>
              <a:gd name="adj" fmla="val 14286"/>
            </a:avLst>
          </a:prstGeom>
          <a:solidFill>
            <a:srgbClr val="DCFCE7"/>
          </a:solidFill>
          <a:ln w="6350">
            <a:solidFill>
              <a:srgbClr val="15803D"/>
            </a:solidFill>
            <a:prstDash val="solid"/>
          </a:ln>
        </p:spPr>
      </p:sp>
      <p:sp>
        <p:nvSpPr>
          <p:cNvPr id="24" name="Text 22"/>
          <p:cNvSpPr/>
          <p:nvPr/>
        </p:nvSpPr>
        <p:spPr>
          <a:xfrm>
            <a:off x="868680" y="320040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03</a:t>
            </a:r>
            <a:endParaRPr lang="en-US" sz="1000" dirty="0"/>
          </a:p>
        </p:txBody>
      </p:sp>
      <p:sp>
        <p:nvSpPr>
          <p:cNvPr id="25" name="Text 23"/>
          <p:cNvSpPr/>
          <p:nvPr/>
        </p:nvSpPr>
        <p:spPr>
          <a:xfrm>
            <a:off x="1371600" y="320040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Interactive Mandi Arbitrage Visualizer</a:t>
            </a:r>
            <a:endParaRPr lang="en-US" sz="1100" dirty="0"/>
          </a:p>
        </p:txBody>
      </p:sp>
      <p:sp>
        <p:nvSpPr>
          <p:cNvPr id="26" name="Text 24"/>
          <p:cNvSpPr/>
          <p:nvPr/>
        </p:nvSpPr>
        <p:spPr>
          <a:xfrm>
            <a:off x="868680" y="3566160"/>
            <a:ext cx="3474720" cy="8686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Recharts analytics tracking 58 mandis in 11 states. Plots 30-day and 6-month historical price curves, plus 5-mandi price spread comparisons helping farmers choose the most profitable market.</a:t>
            </a:r>
            <a:endParaRPr lang="en-US" sz="850" dirty="0"/>
          </a:p>
        </p:txBody>
      </p:sp>
      <p:sp>
        <p:nvSpPr>
          <p:cNvPr id="27" name="Shape 25"/>
          <p:cNvSpPr/>
          <p:nvPr/>
        </p:nvSpPr>
        <p:spPr>
          <a:xfrm>
            <a:off x="4663440" y="3063240"/>
            <a:ext cx="3749040" cy="1463040"/>
          </a:xfrm>
          <a:prstGeom prst="roundRect">
            <a:avLst>
              <a:gd name="adj" fmla="val 5000"/>
            </a:avLst>
          </a:prstGeom>
          <a:solidFill>
            <a:srgbClr val="F8FAFC"/>
          </a:solidFill>
          <a:ln w="12700">
            <a:solidFill>
              <a:srgbClr val="E2E8F0"/>
            </a:solidFill>
            <a:prstDash val="solid"/>
          </a:ln>
        </p:spPr>
      </p:sp>
      <p:sp>
        <p:nvSpPr>
          <p:cNvPr id="28" name="Shape 26"/>
          <p:cNvSpPr/>
          <p:nvPr/>
        </p:nvSpPr>
        <p:spPr>
          <a:xfrm>
            <a:off x="4800600" y="3200400"/>
            <a:ext cx="411480" cy="320040"/>
          </a:xfrm>
          <a:prstGeom prst="roundRect">
            <a:avLst>
              <a:gd name="adj" fmla="val 14286"/>
            </a:avLst>
          </a:prstGeom>
          <a:solidFill>
            <a:srgbClr val="DCFCE7"/>
          </a:solidFill>
          <a:ln w="6350">
            <a:solidFill>
              <a:srgbClr val="15803D"/>
            </a:solidFill>
            <a:prstDash val="solid"/>
          </a:ln>
        </p:spPr>
      </p:sp>
      <p:sp>
        <p:nvSpPr>
          <p:cNvPr id="29" name="Text 27"/>
          <p:cNvSpPr/>
          <p:nvPr/>
        </p:nvSpPr>
        <p:spPr>
          <a:xfrm>
            <a:off x="4800600" y="3200400"/>
            <a:ext cx="411480" cy="320040"/>
          </a:xfrm>
          <a:prstGeom prst="rect">
            <a:avLst/>
          </a:prstGeom>
          <a:noFill/>
          <a:ln/>
        </p:spPr>
        <p:txBody>
          <a:bodyPr wrap="square" rtlCol="0" anchor="ctr"/>
          <a:lstStyle/>
          <a:p>
            <a:pPr algn="ctr" indent="0" marL="0">
              <a:buNone/>
            </a:pPr>
            <a:r>
              <a:rPr lang="en-US" sz="1000" b="1" dirty="0">
                <a:solidFill>
                  <a:srgbClr val="15803D"/>
                </a:solidFill>
                <a:latin typeface="Arial" pitchFamily="34" charset="0"/>
                <a:ea typeface="Arial" pitchFamily="34" charset="-122"/>
                <a:cs typeface="Arial" pitchFamily="34" charset="-120"/>
              </a:rPr>
              <a:t>04</a:t>
            </a:r>
            <a:endParaRPr lang="en-US" sz="1000" dirty="0"/>
          </a:p>
        </p:txBody>
      </p:sp>
      <p:sp>
        <p:nvSpPr>
          <p:cNvPr id="30" name="Text 28"/>
          <p:cNvSpPr/>
          <p:nvPr/>
        </p:nvSpPr>
        <p:spPr>
          <a:xfrm>
            <a:off x="5303520" y="3200400"/>
            <a:ext cx="297180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Statutory Export Compliance System</a:t>
            </a:r>
            <a:endParaRPr lang="en-US" sz="1100" dirty="0"/>
          </a:p>
        </p:txBody>
      </p:sp>
      <p:sp>
        <p:nvSpPr>
          <p:cNvPr id="31" name="Text 29"/>
          <p:cNvSpPr/>
          <p:nvPr/>
        </p:nvSpPr>
        <p:spPr>
          <a:xfrm>
            <a:off x="4800600" y="3566160"/>
            <a:ext cx="3474720" cy="86868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Solves cross-border hurdles by embedding ITC-HS codes, packaging norms, RoDTEP government rebates, and complete checklists for Phytosanitary, IEC, and CEPA Origin certificates.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6. TECHNICAL ARCHITECTURE</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Modern, Robust &amp; Cloud-Ready Architecture</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Engineered with React 19, Recharts, and async repository contracts for seamless scalability</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1874520" cy="3200400"/>
          </a:xfrm>
          <a:prstGeom prst="roundRect">
            <a:avLst>
              <a:gd name="adj" fmla="val 3902"/>
            </a:avLst>
          </a:prstGeom>
          <a:solidFill>
            <a:srgbClr val="F8FAFC"/>
          </a:solidFill>
          <a:ln w="12700">
            <a:solidFill>
              <a:srgbClr val="E2E8F0"/>
            </a:solidFill>
            <a:prstDash val="solid"/>
          </a:ln>
        </p:spPr>
      </p:sp>
      <p:sp>
        <p:nvSpPr>
          <p:cNvPr id="13" name="Text 11"/>
          <p:cNvSpPr/>
          <p:nvPr/>
        </p:nvSpPr>
        <p:spPr>
          <a:xfrm>
            <a:off x="822960" y="160020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1. PRESENTATION LAYER</a:t>
            </a:r>
            <a:endParaRPr lang="en-US" sz="850" dirty="0"/>
          </a:p>
        </p:txBody>
      </p:sp>
      <p:sp>
        <p:nvSpPr>
          <p:cNvPr id="14" name="Text 12"/>
          <p:cNvSpPr/>
          <p:nvPr/>
        </p:nvSpPr>
        <p:spPr>
          <a:xfrm>
            <a:off x="822960" y="192024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React 19 + Tailwind CSS + Vite</a:t>
            </a:r>
            <a:endParaRPr lang="en-US" sz="900" dirty="0"/>
          </a:p>
        </p:txBody>
      </p:sp>
      <p:sp>
        <p:nvSpPr>
          <p:cNvPr id="15" name="Text 13"/>
          <p:cNvSpPr/>
          <p:nvPr/>
        </p:nvSpPr>
        <p:spPr>
          <a:xfrm>
            <a:off x="822960" y="2286000"/>
            <a:ext cx="1691640" cy="22860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Mobile-first responsive architecture.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Dynamic role-tailored top navigation.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Executive navy styling for buyer portal.</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Plus Jakarta Sans high-readability font.</a:t>
            </a:r>
            <a:endParaRPr lang="en-US" sz="800" dirty="0"/>
          </a:p>
        </p:txBody>
      </p:sp>
      <p:sp>
        <p:nvSpPr>
          <p:cNvPr id="16" name="Shape 14"/>
          <p:cNvSpPr/>
          <p:nvPr/>
        </p:nvSpPr>
        <p:spPr>
          <a:xfrm>
            <a:off x="2697480" y="1463040"/>
            <a:ext cx="1874520" cy="3200400"/>
          </a:xfrm>
          <a:prstGeom prst="roundRect">
            <a:avLst>
              <a:gd name="adj" fmla="val 3902"/>
            </a:avLst>
          </a:prstGeom>
          <a:solidFill>
            <a:srgbClr val="F8FAFC"/>
          </a:solidFill>
          <a:ln w="12700">
            <a:solidFill>
              <a:srgbClr val="E2E8F0"/>
            </a:solidFill>
            <a:prstDash val="solid"/>
          </a:ln>
        </p:spPr>
      </p:sp>
      <p:sp>
        <p:nvSpPr>
          <p:cNvPr id="17" name="Text 15"/>
          <p:cNvSpPr/>
          <p:nvPr/>
        </p:nvSpPr>
        <p:spPr>
          <a:xfrm>
            <a:off x="2788920" y="160020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2. VISUALIZATION &amp; TRANSLATION</a:t>
            </a:r>
            <a:endParaRPr lang="en-US" sz="850" dirty="0"/>
          </a:p>
        </p:txBody>
      </p:sp>
      <p:sp>
        <p:nvSpPr>
          <p:cNvPr id="18" name="Text 16"/>
          <p:cNvSpPr/>
          <p:nvPr/>
        </p:nvSpPr>
        <p:spPr>
          <a:xfrm>
            <a:off x="2788920" y="192024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Recharts + Google DOM Engine</a:t>
            </a:r>
            <a:endParaRPr lang="en-US" sz="900" dirty="0"/>
          </a:p>
        </p:txBody>
      </p:sp>
      <p:sp>
        <p:nvSpPr>
          <p:cNvPr id="19" name="Text 17"/>
          <p:cNvSpPr/>
          <p:nvPr/>
        </p:nvSpPr>
        <p:spPr>
          <a:xfrm>
            <a:off x="2788920" y="2286000"/>
            <a:ext cx="1691640" cy="22860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30-day min/modal/max APMC curves.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6-month seasonal price trajectory.</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5-mandi price spread bar charts.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Zero-reload translation into 9 languages.</a:t>
            </a:r>
            <a:endParaRPr lang="en-US" sz="800" dirty="0"/>
          </a:p>
        </p:txBody>
      </p:sp>
      <p:sp>
        <p:nvSpPr>
          <p:cNvPr id="20" name="Shape 18"/>
          <p:cNvSpPr/>
          <p:nvPr/>
        </p:nvSpPr>
        <p:spPr>
          <a:xfrm>
            <a:off x="4663440" y="1463040"/>
            <a:ext cx="1874520" cy="3200400"/>
          </a:xfrm>
          <a:prstGeom prst="roundRect">
            <a:avLst>
              <a:gd name="adj" fmla="val 3902"/>
            </a:avLst>
          </a:prstGeom>
          <a:solidFill>
            <a:srgbClr val="F8FAFC"/>
          </a:solidFill>
          <a:ln w="12700">
            <a:solidFill>
              <a:srgbClr val="E2E8F0"/>
            </a:solidFill>
            <a:prstDash val="solid"/>
          </a:ln>
        </p:spPr>
      </p:sp>
      <p:sp>
        <p:nvSpPr>
          <p:cNvPr id="21" name="Text 19"/>
          <p:cNvSpPr/>
          <p:nvPr/>
        </p:nvSpPr>
        <p:spPr>
          <a:xfrm>
            <a:off x="4754880" y="160020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3. ASYNC REPOSITORY CONTRACTS</a:t>
            </a:r>
            <a:endParaRPr lang="en-US" sz="850" dirty="0"/>
          </a:p>
        </p:txBody>
      </p:sp>
      <p:sp>
        <p:nvSpPr>
          <p:cNvPr id="22" name="Text 20"/>
          <p:cNvSpPr/>
          <p:nvPr/>
        </p:nvSpPr>
        <p:spPr>
          <a:xfrm>
            <a:off x="4754880" y="192024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Asynchronous storageRepo.js</a:t>
            </a:r>
            <a:endParaRPr lang="en-US" sz="900" dirty="0"/>
          </a:p>
        </p:txBody>
      </p:sp>
      <p:sp>
        <p:nvSpPr>
          <p:cNvPr id="23" name="Text 21"/>
          <p:cNvSpPr/>
          <p:nvPr/>
        </p:nvSpPr>
        <p:spPr>
          <a:xfrm>
            <a:off x="4754880" y="2286000"/>
            <a:ext cx="1691640" cy="22860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Structured repository pattern with async calls.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High-speed offline-ready local storage.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Zero-UI-change migration ready for Firebase Firestore or Node / PostgreSQL in production.</a:t>
            </a:r>
            <a:endParaRPr lang="en-US" sz="800" dirty="0"/>
          </a:p>
        </p:txBody>
      </p:sp>
      <p:sp>
        <p:nvSpPr>
          <p:cNvPr id="24" name="Shape 22"/>
          <p:cNvSpPr/>
          <p:nvPr/>
        </p:nvSpPr>
        <p:spPr>
          <a:xfrm>
            <a:off x="6629400" y="1463040"/>
            <a:ext cx="1874520" cy="3200400"/>
          </a:xfrm>
          <a:prstGeom prst="roundRect">
            <a:avLst>
              <a:gd name="adj" fmla="val 3902"/>
            </a:avLst>
          </a:prstGeom>
          <a:solidFill>
            <a:srgbClr val="F8FAFC"/>
          </a:solidFill>
          <a:ln w="12700">
            <a:solidFill>
              <a:srgbClr val="E2E8F0"/>
            </a:solidFill>
            <a:prstDash val="solid"/>
          </a:ln>
        </p:spPr>
      </p:sp>
      <p:sp>
        <p:nvSpPr>
          <p:cNvPr id="25" name="Text 23"/>
          <p:cNvSpPr/>
          <p:nvPr/>
        </p:nvSpPr>
        <p:spPr>
          <a:xfrm>
            <a:off x="6720840" y="1600200"/>
            <a:ext cx="1691640" cy="320040"/>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4. DATA GROUNDING &amp; INTEGRITY</a:t>
            </a:r>
            <a:endParaRPr lang="en-US" sz="850" dirty="0"/>
          </a:p>
        </p:txBody>
      </p:sp>
      <p:sp>
        <p:nvSpPr>
          <p:cNvPr id="26" name="Text 24"/>
          <p:cNvSpPr/>
          <p:nvPr/>
        </p:nvSpPr>
        <p:spPr>
          <a:xfrm>
            <a:off x="6720840" y="1920240"/>
            <a:ext cx="1691640" cy="320040"/>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Official Statutory Datasets</a:t>
            </a:r>
            <a:endParaRPr lang="en-US" sz="900" dirty="0"/>
          </a:p>
        </p:txBody>
      </p:sp>
      <p:sp>
        <p:nvSpPr>
          <p:cNvPr id="27" name="Text 25"/>
          <p:cNvSpPr/>
          <p:nvPr/>
        </p:nvSpPr>
        <p:spPr>
          <a:xfrm>
            <a:off x="6720840" y="2286000"/>
            <a:ext cx="1691640" cy="22860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ICAR research station NPK &amp; seed rates.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Agmarknet &amp; e-NAM daily terminal feeds.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APEDA Agri-Exchange &amp; DGFT export leads.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Zero dummy placeholders or 'Connect API' tags.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7. PRODUCT WALKTHROUGH</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Live Working Prototype Showcase</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Every screen is fully functional and interactive at http://localhost:5173/</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3749040" cy="1463040"/>
          </a:xfrm>
          <a:prstGeom prst="roundRect">
            <a:avLst>
              <a:gd name="adj" fmla="val 5000"/>
            </a:avLst>
          </a:prstGeom>
          <a:solidFill>
            <a:srgbClr val="F8FAFC"/>
          </a:solidFill>
          <a:ln w="12700">
            <a:solidFill>
              <a:srgbClr val="E2E8F0"/>
            </a:solidFill>
            <a:prstDash val="solid"/>
          </a:ln>
        </p:spPr>
      </p:sp>
      <p:sp>
        <p:nvSpPr>
          <p:cNvPr id="13" name="Shape 11"/>
          <p:cNvSpPr/>
          <p:nvPr/>
        </p:nvSpPr>
        <p:spPr>
          <a:xfrm>
            <a:off x="868680" y="1600200"/>
            <a:ext cx="1371600" cy="228600"/>
          </a:xfrm>
          <a:prstGeom prst="roundRect">
            <a:avLst>
              <a:gd name="adj" fmla="val 16000"/>
            </a:avLst>
          </a:prstGeom>
          <a:solidFill>
            <a:srgbClr val="DCFCE7"/>
          </a:solidFill>
          <a:ln w="6350">
            <a:solidFill>
              <a:srgbClr val="15803D"/>
            </a:solidFill>
            <a:prstDash val="solid"/>
          </a:ln>
        </p:spPr>
      </p:sp>
      <p:sp>
        <p:nvSpPr>
          <p:cNvPr id="14" name="Text 12"/>
          <p:cNvSpPr/>
          <p:nvPr/>
        </p:nvSpPr>
        <p:spPr>
          <a:xfrm>
            <a:off x="868680" y="1600200"/>
            <a:ext cx="1371600" cy="228600"/>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FARMER PORTAL</a:t>
            </a:r>
            <a:endParaRPr lang="en-US" sz="750" dirty="0"/>
          </a:p>
        </p:txBody>
      </p:sp>
      <p:sp>
        <p:nvSpPr>
          <p:cNvPr id="15" name="Text 13"/>
          <p:cNvSpPr/>
          <p:nvPr/>
        </p:nvSpPr>
        <p:spPr>
          <a:xfrm>
            <a:off x="868680" y="187452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1: Agronomic Crop Advisor</a:t>
            </a:r>
            <a:endParaRPr lang="en-US" sz="1050" dirty="0"/>
          </a:p>
        </p:txBody>
      </p:sp>
      <p:sp>
        <p:nvSpPr>
          <p:cNvPr id="16" name="Text 14"/>
          <p:cNvSpPr/>
          <p:nvPr/>
        </p:nvSpPr>
        <p:spPr>
          <a:xfrm>
            <a:off x="868680" y="2176272"/>
            <a:ext cx="3474720" cy="6858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Profile: 3 Acres, Black Soil, Nashik, Kharif</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Matches: Soybean (92%), Red Onion (88%), Chilli (82%)</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ICAR Dosage: N:12 P:24 K:16 + Sulphur 8 kg/acre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Revenue Estimate: ₹78,000 gross / Net Profit ₹42,500</a:t>
            </a:r>
            <a:endParaRPr lang="en-US" sz="800" dirty="0"/>
          </a:p>
        </p:txBody>
      </p:sp>
      <p:sp>
        <p:nvSpPr>
          <p:cNvPr id="17" name="Shape 15"/>
          <p:cNvSpPr/>
          <p:nvPr/>
        </p:nvSpPr>
        <p:spPr>
          <a:xfrm>
            <a:off x="4663440" y="1463040"/>
            <a:ext cx="3749040" cy="1463040"/>
          </a:xfrm>
          <a:prstGeom prst="roundRect">
            <a:avLst>
              <a:gd name="adj" fmla="val 5000"/>
            </a:avLst>
          </a:prstGeom>
          <a:solidFill>
            <a:srgbClr val="F8FAFC"/>
          </a:solidFill>
          <a:ln w="12700">
            <a:solidFill>
              <a:srgbClr val="E2E8F0"/>
            </a:solidFill>
            <a:prstDash val="solid"/>
          </a:ln>
        </p:spPr>
      </p:sp>
      <p:sp>
        <p:nvSpPr>
          <p:cNvPr id="18" name="Shape 16"/>
          <p:cNvSpPr/>
          <p:nvPr/>
        </p:nvSpPr>
        <p:spPr>
          <a:xfrm>
            <a:off x="4800600" y="1600200"/>
            <a:ext cx="1371600" cy="228600"/>
          </a:xfrm>
          <a:prstGeom prst="roundRect">
            <a:avLst>
              <a:gd name="adj" fmla="val 16000"/>
            </a:avLst>
          </a:prstGeom>
          <a:solidFill>
            <a:srgbClr val="F1F5F9"/>
          </a:solidFill>
          <a:ln w="6350">
            <a:solidFill>
              <a:srgbClr val="0F172A"/>
            </a:solidFill>
            <a:prstDash val="solid"/>
          </a:ln>
        </p:spPr>
      </p:sp>
      <p:sp>
        <p:nvSpPr>
          <p:cNvPr id="19" name="Text 17"/>
          <p:cNvSpPr/>
          <p:nvPr/>
        </p:nvSpPr>
        <p:spPr>
          <a:xfrm>
            <a:off x="4800600" y="1600200"/>
            <a:ext cx="1371600" cy="228600"/>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MARKET INTELLIGENCE</a:t>
            </a:r>
            <a:endParaRPr lang="en-US" sz="750" dirty="0"/>
          </a:p>
        </p:txBody>
      </p:sp>
      <p:sp>
        <p:nvSpPr>
          <p:cNvPr id="20" name="Text 18"/>
          <p:cNvSpPr/>
          <p:nvPr/>
        </p:nvSpPr>
        <p:spPr>
          <a:xfrm>
            <a:off x="4800600" y="187452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2: Mandi Price Intelligence</a:t>
            </a:r>
            <a:endParaRPr lang="en-US" sz="1050" dirty="0"/>
          </a:p>
        </p:txBody>
      </p:sp>
      <p:sp>
        <p:nvSpPr>
          <p:cNvPr id="21" name="Text 19"/>
          <p:cNvSpPr/>
          <p:nvPr/>
        </p:nvSpPr>
        <p:spPr>
          <a:xfrm>
            <a:off x="4800600" y="2176272"/>
            <a:ext cx="3474720" cy="6858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58 Live Mandi feeds across 24 APMC yards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30-Day Min, Modal, Max curves with Recharts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5-Mandi price spread: Lasalgaon vs Pimpalgaon vs Vashi</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MSP benchmark tracking (Soybean ₹4,892, Wheat ₹2,425)</a:t>
            </a:r>
            <a:endParaRPr lang="en-US" sz="800" dirty="0"/>
          </a:p>
        </p:txBody>
      </p:sp>
      <p:sp>
        <p:nvSpPr>
          <p:cNvPr id="22" name="Shape 20"/>
          <p:cNvSpPr/>
          <p:nvPr/>
        </p:nvSpPr>
        <p:spPr>
          <a:xfrm>
            <a:off x="731520" y="3063240"/>
            <a:ext cx="3749040" cy="1463040"/>
          </a:xfrm>
          <a:prstGeom prst="roundRect">
            <a:avLst>
              <a:gd name="adj" fmla="val 5000"/>
            </a:avLst>
          </a:prstGeom>
          <a:solidFill>
            <a:srgbClr val="F8FAFC"/>
          </a:solidFill>
          <a:ln w="12700">
            <a:solidFill>
              <a:srgbClr val="E2E8F0"/>
            </a:solidFill>
            <a:prstDash val="solid"/>
          </a:ln>
        </p:spPr>
      </p:sp>
      <p:sp>
        <p:nvSpPr>
          <p:cNvPr id="23" name="Shape 21"/>
          <p:cNvSpPr/>
          <p:nvPr/>
        </p:nvSpPr>
        <p:spPr>
          <a:xfrm>
            <a:off x="868680" y="3200400"/>
            <a:ext cx="1371600" cy="228600"/>
          </a:xfrm>
          <a:prstGeom prst="roundRect">
            <a:avLst>
              <a:gd name="adj" fmla="val 16000"/>
            </a:avLst>
          </a:prstGeom>
          <a:solidFill>
            <a:srgbClr val="E0F2FE"/>
          </a:solidFill>
          <a:ln w="6350">
            <a:solidFill>
              <a:srgbClr val="0369A1"/>
            </a:solidFill>
            <a:prstDash val="solid"/>
          </a:ln>
        </p:spPr>
      </p:sp>
      <p:sp>
        <p:nvSpPr>
          <p:cNvPr id="24" name="Text 22"/>
          <p:cNvSpPr/>
          <p:nvPr/>
        </p:nvSpPr>
        <p:spPr>
          <a:xfrm>
            <a:off x="868680" y="3200400"/>
            <a:ext cx="1371600" cy="228600"/>
          </a:xfrm>
          <a:prstGeom prst="rect">
            <a:avLst/>
          </a:prstGeom>
          <a:noFill/>
          <a:ln/>
        </p:spPr>
        <p:txBody>
          <a:bodyPr wrap="square" rtlCol="0" anchor="ctr"/>
          <a:lstStyle/>
          <a:p>
            <a:pPr algn="ctr" indent="0" marL="0">
              <a:buNone/>
            </a:pPr>
            <a:r>
              <a:rPr lang="en-US" sz="750" b="1" dirty="0">
                <a:solidFill>
                  <a:srgbClr val="0369A1"/>
                </a:solidFill>
                <a:latin typeface="Arial" pitchFamily="34" charset="0"/>
                <a:ea typeface="Arial" pitchFamily="34" charset="-122"/>
                <a:cs typeface="Arial" pitchFamily="34" charset="-120"/>
              </a:rPr>
              <a:t>COMMERCIAL TRADING</a:t>
            </a:r>
            <a:endParaRPr lang="en-US" sz="750" dirty="0"/>
          </a:p>
        </p:txBody>
      </p:sp>
      <p:sp>
        <p:nvSpPr>
          <p:cNvPr id="25" name="Text 23"/>
          <p:cNvSpPr/>
          <p:nvPr/>
        </p:nvSpPr>
        <p:spPr>
          <a:xfrm>
            <a:off x="868680" y="347472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3: Direct Produce Marketplace</a:t>
            </a:r>
            <a:endParaRPr lang="en-US" sz="1050" dirty="0"/>
          </a:p>
        </p:txBody>
      </p:sp>
      <p:sp>
        <p:nvSpPr>
          <p:cNvPr id="26" name="Text 24"/>
          <p:cNvSpPr/>
          <p:nvPr/>
        </p:nvSpPr>
        <p:spPr>
          <a:xfrm>
            <a:off x="868680" y="3776472"/>
            <a:ext cx="3474720" cy="6858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20 Verified harvest listings across 10 key hubs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AGMARK Grade A, certified moisture % &amp; batch photos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Mandi Arbitrage Badge (e.g. ₹100 below Lasalgaon rate)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Direct Purchase Inquiry &amp; Negotiation Modal</a:t>
            </a:r>
            <a:endParaRPr lang="en-US" sz="800" dirty="0"/>
          </a:p>
        </p:txBody>
      </p:sp>
      <p:sp>
        <p:nvSpPr>
          <p:cNvPr id="27" name="Shape 25"/>
          <p:cNvSpPr/>
          <p:nvPr/>
        </p:nvSpPr>
        <p:spPr>
          <a:xfrm>
            <a:off x="4663440" y="3063240"/>
            <a:ext cx="3749040" cy="1463040"/>
          </a:xfrm>
          <a:prstGeom prst="roundRect">
            <a:avLst>
              <a:gd name="adj" fmla="val 5000"/>
            </a:avLst>
          </a:prstGeom>
          <a:solidFill>
            <a:srgbClr val="F8FAFC"/>
          </a:solidFill>
          <a:ln w="12700">
            <a:solidFill>
              <a:srgbClr val="E2E8F0"/>
            </a:solidFill>
            <a:prstDash val="solid"/>
          </a:ln>
        </p:spPr>
      </p:sp>
      <p:sp>
        <p:nvSpPr>
          <p:cNvPr id="28" name="Shape 26"/>
          <p:cNvSpPr/>
          <p:nvPr/>
        </p:nvSpPr>
        <p:spPr>
          <a:xfrm>
            <a:off x="4800600" y="3200400"/>
            <a:ext cx="1371600" cy="228600"/>
          </a:xfrm>
          <a:prstGeom prst="roundRect">
            <a:avLst>
              <a:gd name="adj" fmla="val 16000"/>
            </a:avLst>
          </a:prstGeom>
          <a:solidFill>
            <a:srgbClr val="FEF3C7"/>
          </a:solidFill>
          <a:ln w="6350">
            <a:solidFill>
              <a:srgbClr val="B45309"/>
            </a:solidFill>
            <a:prstDash val="solid"/>
          </a:ln>
        </p:spPr>
      </p:sp>
      <p:sp>
        <p:nvSpPr>
          <p:cNvPr id="29" name="Text 27"/>
          <p:cNvSpPr/>
          <p:nvPr/>
        </p:nvSpPr>
        <p:spPr>
          <a:xfrm>
            <a:off x="4800600" y="3200400"/>
            <a:ext cx="1371600" cy="228600"/>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APEDA / DGFT DESK</a:t>
            </a:r>
            <a:endParaRPr lang="en-US" sz="750" dirty="0"/>
          </a:p>
        </p:txBody>
      </p:sp>
      <p:sp>
        <p:nvSpPr>
          <p:cNvPr id="30" name="Text 28"/>
          <p:cNvSpPr/>
          <p:nvPr/>
        </p:nvSpPr>
        <p:spPr>
          <a:xfrm>
            <a:off x="4800600" y="3474720"/>
            <a:ext cx="3474720" cy="27432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 Screen 4: International Export Gateway</a:t>
            </a:r>
            <a:endParaRPr lang="en-US" sz="1050" dirty="0"/>
          </a:p>
        </p:txBody>
      </p:sp>
      <p:sp>
        <p:nvSpPr>
          <p:cNvPr id="31" name="Text 29"/>
          <p:cNvSpPr/>
          <p:nvPr/>
        </p:nvSpPr>
        <p:spPr>
          <a:xfrm>
            <a:off x="4800600" y="3776472"/>
            <a:ext cx="3474720" cy="68580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16 Global bilateral leads ($44.8M / 25,135 MT volume)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Germany Pomegranate, UAE Rice, Vietnam Chilli, Korea Sesame</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Full ITC-HS Codes &amp; 30% to 73% Export Price Premiums</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Statutory Documents Checklist &amp; RoDTEP rebate benefits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8. IMPACT &amp; BENEFITS</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Empowering Farmers, Strengthening India</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Real Information  |  Better Decisions  |  Higher Income  |  Stronger Rural Economy</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2468880" cy="2240280"/>
          </a:xfrm>
          <a:prstGeom prst="roundRect">
            <a:avLst>
              <a:gd name="adj" fmla="val 3265"/>
            </a:avLst>
          </a:prstGeom>
          <a:solidFill>
            <a:srgbClr val="F8FAFC"/>
          </a:solidFill>
          <a:ln w="12700">
            <a:solidFill>
              <a:srgbClr val="E2E8F0"/>
            </a:solidFill>
            <a:prstDash val="solid"/>
          </a:ln>
        </p:spPr>
      </p:sp>
      <p:sp>
        <p:nvSpPr>
          <p:cNvPr id="13" name="Text 11"/>
          <p:cNvSpPr/>
          <p:nvPr/>
        </p:nvSpPr>
        <p:spPr>
          <a:xfrm>
            <a:off x="868680" y="1572768"/>
            <a:ext cx="2194560" cy="320040"/>
          </a:xfrm>
          <a:prstGeom prst="rect">
            <a:avLst/>
          </a:prstGeom>
          <a:noFill/>
          <a:ln/>
        </p:spPr>
        <p:txBody>
          <a:bodyPr wrap="square" rtlCol="0" anchor="ctr"/>
          <a:lstStyle/>
          <a:p>
            <a:pPr indent="0" marL="0">
              <a:buNone/>
            </a:pPr>
            <a:r>
              <a:rPr lang="en-US" sz="1100" b="1" dirty="0">
                <a:solidFill>
                  <a:srgbClr val="15803D"/>
                </a:solidFill>
                <a:latin typeface="Arial" pitchFamily="34" charset="0"/>
                <a:ea typeface="Arial" pitchFamily="34" charset="-122"/>
                <a:cs typeface="Arial" pitchFamily="34" charset="-120"/>
              </a:rPr>
              <a:t>🌱 Impact on Farmers</a:t>
            </a:r>
            <a:endParaRPr lang="en-US" sz="1100" dirty="0"/>
          </a:p>
        </p:txBody>
      </p:sp>
      <p:sp>
        <p:nvSpPr>
          <p:cNvPr id="14" name="Text 12"/>
          <p:cNvSpPr/>
          <p:nvPr/>
        </p:nvSpPr>
        <p:spPr>
          <a:xfrm>
            <a:off x="868680" y="1938528"/>
            <a:ext cx="2194560" cy="1691640"/>
          </a:xfrm>
          <a:prstGeom prst="rect">
            <a:avLst/>
          </a:prstGeom>
          <a:noFill/>
          <a:ln/>
        </p:spPr>
        <p:txBody>
          <a:bodyPr wrap="square" rtlCol="0" anchor="ctr"/>
          <a:lstStyle/>
          <a:p>
            <a:pPr indent="0" marL="0">
              <a:buNone/>
            </a:pPr>
            <a:r>
              <a:rPr lang="en-US" sz="780" dirty="0">
                <a:solidFill>
                  <a:srgbClr val="1E293B"/>
                </a:solidFill>
                <a:latin typeface="Arial" pitchFamily="34" charset="0"/>
                <a:ea typeface="Arial" pitchFamily="34" charset="-122"/>
                <a:cs typeface="Arial" pitchFamily="34" charset="-120"/>
              </a:rPr>
              <a:t>• Higher Income: Better crop planning and direct market access get fairer prices.</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Reduced Input Costs: Accurate seed and NPK fertilizer calculations avoid wastage.</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Better Decision Making: Recommendations grounded in land, soil, season and market.</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Increased Productivity: Right crop at the right time improves farm efficiency.</a:t>
            </a:r>
            <a:endParaRPr lang="en-US" sz="780" dirty="0"/>
          </a:p>
        </p:txBody>
      </p:sp>
      <p:sp>
        <p:nvSpPr>
          <p:cNvPr id="15" name="Shape 13"/>
          <p:cNvSpPr/>
          <p:nvPr/>
        </p:nvSpPr>
        <p:spPr>
          <a:xfrm>
            <a:off x="3337560" y="1463040"/>
            <a:ext cx="2468880" cy="2240280"/>
          </a:xfrm>
          <a:prstGeom prst="roundRect">
            <a:avLst>
              <a:gd name="adj" fmla="val 3265"/>
            </a:avLst>
          </a:prstGeom>
          <a:solidFill>
            <a:srgbClr val="F8FAFC"/>
          </a:solidFill>
          <a:ln w="12700">
            <a:solidFill>
              <a:srgbClr val="E2E8F0"/>
            </a:solidFill>
            <a:prstDash val="solid"/>
          </a:ln>
        </p:spPr>
      </p:sp>
      <p:sp>
        <p:nvSpPr>
          <p:cNvPr id="16" name="Text 14"/>
          <p:cNvSpPr/>
          <p:nvPr/>
        </p:nvSpPr>
        <p:spPr>
          <a:xfrm>
            <a:off x="3474720" y="1572768"/>
            <a:ext cx="2194560" cy="32004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Impact on Buyers</a:t>
            </a:r>
            <a:endParaRPr lang="en-US" sz="1100" dirty="0"/>
          </a:p>
        </p:txBody>
      </p:sp>
      <p:sp>
        <p:nvSpPr>
          <p:cNvPr id="17" name="Text 15"/>
          <p:cNvSpPr/>
          <p:nvPr/>
        </p:nvSpPr>
        <p:spPr>
          <a:xfrm>
            <a:off x="3474720" y="1938528"/>
            <a:ext cx="2194560" cy="1691640"/>
          </a:xfrm>
          <a:prstGeom prst="rect">
            <a:avLst/>
          </a:prstGeom>
          <a:noFill/>
          <a:ln/>
        </p:spPr>
        <p:txBody>
          <a:bodyPr wrap="square" rtlCol="0" anchor="ctr"/>
          <a:lstStyle/>
          <a:p>
            <a:pPr indent="0" marL="0">
              <a:buNone/>
            </a:pPr>
            <a:r>
              <a:rPr lang="en-US" sz="780" dirty="0">
                <a:solidFill>
                  <a:srgbClr val="1E293B"/>
                </a:solidFill>
                <a:latin typeface="Arial" pitchFamily="34" charset="0"/>
                <a:ea typeface="Arial" pitchFamily="34" charset="-122"/>
                <a:cs typeface="Arial" pitchFamily="34" charset="-120"/>
              </a:rPr>
              <a:t>• Reliable Supply: Direct farm linkages ensure fresh, traceable produce.</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Fair &amp; Transparent Pricing: Eliminates broker cuts, benefiting both buyer and seller.</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Wide Variety: Access diverse produce from top farming hubs across India.</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Institutional Ease: Streamlined inquiries for retail chains and food processors.</a:t>
            </a:r>
            <a:endParaRPr lang="en-US" sz="780" dirty="0"/>
          </a:p>
        </p:txBody>
      </p:sp>
      <p:sp>
        <p:nvSpPr>
          <p:cNvPr id="18" name="Shape 16"/>
          <p:cNvSpPr/>
          <p:nvPr/>
        </p:nvSpPr>
        <p:spPr>
          <a:xfrm>
            <a:off x="5943600" y="1463040"/>
            <a:ext cx="2468880" cy="2240280"/>
          </a:xfrm>
          <a:prstGeom prst="roundRect">
            <a:avLst>
              <a:gd name="adj" fmla="val 3265"/>
            </a:avLst>
          </a:prstGeom>
          <a:solidFill>
            <a:srgbClr val="F8FAFC"/>
          </a:solidFill>
          <a:ln w="12700">
            <a:solidFill>
              <a:srgbClr val="E2E8F0"/>
            </a:solidFill>
            <a:prstDash val="solid"/>
          </a:ln>
        </p:spPr>
      </p:sp>
      <p:sp>
        <p:nvSpPr>
          <p:cNvPr id="19" name="Text 17"/>
          <p:cNvSpPr/>
          <p:nvPr/>
        </p:nvSpPr>
        <p:spPr>
          <a:xfrm>
            <a:off x="6080760" y="1572768"/>
            <a:ext cx="2194560" cy="320040"/>
          </a:xfrm>
          <a:prstGeom prst="rect">
            <a:avLst/>
          </a:prstGeom>
          <a:noFill/>
          <a:ln/>
        </p:spPr>
        <p:txBody>
          <a:bodyPr wrap="square" rtlCol="0" anchor="ctr"/>
          <a:lstStyle/>
          <a:p>
            <a:pPr indent="0" marL="0">
              <a:buNone/>
            </a:pPr>
            <a:r>
              <a:rPr lang="en-US" sz="1100" b="1" dirty="0">
                <a:solidFill>
                  <a:srgbClr val="B45309"/>
                </a:solidFill>
                <a:latin typeface="Arial" pitchFamily="34" charset="0"/>
                <a:ea typeface="Arial" pitchFamily="34" charset="-122"/>
                <a:cs typeface="Arial" pitchFamily="34" charset="-120"/>
              </a:rPr>
              <a:t>🇮🇳 Broader National Impact</a:t>
            </a:r>
            <a:endParaRPr lang="en-US" sz="1100" dirty="0"/>
          </a:p>
        </p:txBody>
      </p:sp>
      <p:sp>
        <p:nvSpPr>
          <p:cNvPr id="20" name="Text 18"/>
          <p:cNvSpPr/>
          <p:nvPr/>
        </p:nvSpPr>
        <p:spPr>
          <a:xfrm>
            <a:off x="6080760" y="1938528"/>
            <a:ext cx="2194560" cy="1691640"/>
          </a:xfrm>
          <a:prstGeom prst="rect">
            <a:avLst/>
          </a:prstGeom>
          <a:noFill/>
          <a:ln/>
        </p:spPr>
        <p:txBody>
          <a:bodyPr wrap="square" rtlCol="0" anchor="ctr"/>
          <a:lstStyle/>
          <a:p>
            <a:pPr indent="0" marL="0">
              <a:buNone/>
            </a:pPr>
            <a:r>
              <a:rPr lang="en-US" sz="780" dirty="0">
                <a:solidFill>
                  <a:srgbClr val="1E293B"/>
                </a:solidFill>
                <a:latin typeface="Arial" pitchFamily="34" charset="0"/>
                <a:ea typeface="Arial" pitchFamily="34" charset="-122"/>
                <a:cs typeface="Arial" pitchFamily="34" charset="-120"/>
              </a:rPr>
              <a:t>• Stronger Rural Economy: Wealth generation boosts rural purchasing power.</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Food Security: Promotes balanced, sustainable, and diversified crop production.</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Supports National Missions: Directly advances Atmanirbhar Bharat &amp; Digital India.</a:t>
            </a:r>
            <a:endParaRPr lang="en-US" sz="780" dirty="0"/>
          </a:p>
          <a:p>
            <a:pPr indent="0" marL="0">
              <a:buNone/>
            </a:pPr>
            <a:endParaRPr lang="en-US" sz="780" dirty="0"/>
          </a:p>
          <a:p>
            <a:pPr indent="0" marL="0">
              <a:buNone/>
            </a:pPr>
            <a:r>
              <a:rPr lang="en-US" sz="780" dirty="0">
                <a:solidFill>
                  <a:srgbClr val="1E293B"/>
                </a:solidFill>
                <a:latin typeface="Arial" pitchFamily="34" charset="0"/>
                <a:ea typeface="Arial" pitchFamily="34" charset="-122"/>
                <a:cs typeface="Arial" pitchFamily="34" charset="-120"/>
              </a:rPr>
              <a:t>• Vikit Bharat 2047: Building a prosperous, technologically self-reliant agriculture.</a:t>
            </a:r>
            <a:endParaRPr lang="en-US" sz="780" dirty="0"/>
          </a:p>
        </p:txBody>
      </p:sp>
      <p:sp>
        <p:nvSpPr>
          <p:cNvPr id="21" name="Shape 19"/>
          <p:cNvSpPr/>
          <p:nvPr/>
        </p:nvSpPr>
        <p:spPr>
          <a:xfrm>
            <a:off x="731520" y="3794760"/>
            <a:ext cx="4114800" cy="868680"/>
          </a:xfrm>
          <a:prstGeom prst="roundRect">
            <a:avLst>
              <a:gd name="adj" fmla="val 8421"/>
            </a:avLst>
          </a:prstGeom>
          <a:solidFill>
            <a:srgbClr val="DCFCE7"/>
          </a:solidFill>
          <a:ln w="12700">
            <a:solidFill>
              <a:srgbClr val="15803D"/>
            </a:solidFill>
            <a:prstDash val="solid"/>
          </a:ln>
        </p:spPr>
      </p:sp>
      <p:sp>
        <p:nvSpPr>
          <p:cNvPr id="22" name="Text 20"/>
          <p:cNvSpPr/>
          <p:nvPr/>
        </p:nvSpPr>
        <p:spPr>
          <a:xfrm>
            <a:off x="868680" y="3858768"/>
            <a:ext cx="3840480" cy="201168"/>
          </a:xfrm>
          <a:prstGeom prst="rect">
            <a:avLst/>
          </a:prstGeom>
          <a:noFill/>
          <a:ln/>
        </p:spPr>
        <p:txBody>
          <a:bodyPr wrap="square" rtlCol="0" anchor="ctr"/>
          <a:lstStyle/>
          <a:p>
            <a:pPr indent="0" marL="0">
              <a:buNone/>
            </a:pPr>
            <a:r>
              <a:rPr lang="en-US" sz="800" b="1" dirty="0">
                <a:solidFill>
                  <a:srgbClr val="064E3B"/>
                </a:solidFill>
                <a:latin typeface="Arial" pitchFamily="34" charset="0"/>
                <a:ea typeface="Arial" pitchFamily="34" charset="-122"/>
                <a:cs typeface="Arial" pitchFamily="34" charset="-120"/>
              </a:rPr>
              <a:t>📈 EXPECTED LONG-TERM OUTCOMES:</a:t>
            </a:r>
            <a:endParaRPr lang="en-US" sz="800" dirty="0"/>
          </a:p>
        </p:txBody>
      </p:sp>
      <p:sp>
        <p:nvSpPr>
          <p:cNvPr id="23" name="Text 21"/>
          <p:cNvSpPr/>
          <p:nvPr/>
        </p:nvSpPr>
        <p:spPr>
          <a:xfrm>
            <a:off x="868680" y="4069080"/>
            <a:ext cx="3840480" cy="530352"/>
          </a:xfrm>
          <a:prstGeom prst="rect">
            <a:avLst/>
          </a:prstGeom>
          <a:noFill/>
          <a:ln/>
        </p:spPr>
        <p:txBody>
          <a:bodyPr wrap="square" rtlCol="0" anchor="ctr"/>
          <a:lstStyle/>
          <a:p>
            <a:pPr indent="0" marL="0">
              <a:buNone/>
            </a:pPr>
            <a:r>
              <a:rPr lang="en-US" sz="850" b="1" dirty="0">
                <a:solidFill>
                  <a:srgbClr val="0F5132"/>
                </a:solidFill>
                <a:latin typeface="Arial" pitchFamily="34" charset="0"/>
                <a:ea typeface="Arial" pitchFamily="34" charset="-122"/>
                <a:cs typeface="Arial" pitchFamily="34" charset="-120"/>
              </a:rPr>
              <a:t>↑ 30–50% Increase in Farmer Net Income  |  ↓ 20–30% Reduction in Input Costs</a:t>
            </a:r>
            <a:endParaRPr lang="en-US" sz="850" dirty="0"/>
          </a:p>
          <a:p>
            <a:pPr indent="0" marL="0">
              <a:buNone/>
            </a:pPr>
            <a:r>
              <a:rPr lang="en-US" sz="850" b="1" dirty="0">
                <a:solidFill>
                  <a:srgbClr val="0F5132"/>
                </a:solidFill>
                <a:latin typeface="Arial" pitchFamily="34" charset="0"/>
                <a:ea typeface="Arial" pitchFamily="34" charset="-122"/>
                <a:cs typeface="Arial" pitchFamily="34" charset="-120"/>
              </a:rPr>
              <a:t>More Direct Buyer Connections  |  Improved Crop Yield &amp; Quality</a:t>
            </a:r>
            <a:endParaRPr lang="en-US" sz="850" dirty="0"/>
          </a:p>
        </p:txBody>
      </p:sp>
      <p:sp>
        <p:nvSpPr>
          <p:cNvPr id="24" name="Shape 22"/>
          <p:cNvSpPr/>
          <p:nvPr/>
        </p:nvSpPr>
        <p:spPr>
          <a:xfrm>
            <a:off x="4983480" y="3794760"/>
            <a:ext cx="3429000" cy="868680"/>
          </a:xfrm>
          <a:prstGeom prst="roundRect">
            <a:avLst>
              <a:gd name="adj" fmla="val 8421"/>
            </a:avLst>
          </a:prstGeom>
          <a:solidFill>
            <a:srgbClr val="F1F5F9"/>
          </a:solidFill>
          <a:ln w="12700">
            <a:solidFill>
              <a:srgbClr val="E2E8F0"/>
            </a:solidFill>
            <a:prstDash val="solid"/>
          </a:ln>
        </p:spPr>
      </p:sp>
      <p:sp>
        <p:nvSpPr>
          <p:cNvPr id="25" name="Text 23"/>
          <p:cNvSpPr/>
          <p:nvPr/>
        </p:nvSpPr>
        <p:spPr>
          <a:xfrm>
            <a:off x="5120640" y="3858768"/>
            <a:ext cx="3154680" cy="201168"/>
          </a:xfrm>
          <a:prstGeom prst="rect">
            <a:avLst/>
          </a:prstGeom>
          <a:noFill/>
          <a:ln/>
        </p:spPr>
        <p:txBody>
          <a:bodyPr wrap="square" rtlCol="0" anchor="ctr"/>
          <a:lstStyle/>
          <a:p>
            <a:pPr indent="0" marL="0">
              <a:buNone/>
            </a:pPr>
            <a:r>
              <a:rPr lang="en-US" sz="800" b="1" dirty="0">
                <a:solidFill>
                  <a:srgbClr val="0F172A"/>
                </a:solidFill>
                <a:latin typeface="Arial" pitchFamily="34" charset="0"/>
                <a:ea typeface="Arial" pitchFamily="34" charset="-122"/>
                <a:cs typeface="Arial" pitchFamily="34" charset="-120"/>
              </a:rPr>
              <a:t>🎯 ALIGNMENT WITH UN SDGs:</a:t>
            </a:r>
            <a:endParaRPr lang="en-US" sz="800" dirty="0"/>
          </a:p>
        </p:txBody>
      </p:sp>
      <p:sp>
        <p:nvSpPr>
          <p:cNvPr id="26" name="Text 24"/>
          <p:cNvSpPr/>
          <p:nvPr/>
        </p:nvSpPr>
        <p:spPr>
          <a:xfrm>
            <a:off x="5120640" y="4096512"/>
            <a:ext cx="3154680" cy="5029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SDG 2: Zero Hunger  •  SDG 8: Decent Work &amp; Economic Growth</a:t>
            </a: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SDG 12: Responsible Production  •  SDG 13: Climate Action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9. COMPETITIVE ADVANTAGE</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Why Kisan Mitra Outperforms Existing Alternatives</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A rigorous comparative evaluation against government portals and commercial apps</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7680960" cy="914400"/>
        </p:xfrm>
        <a:graphic>
          <a:graphicData uri="http://schemas.openxmlformats.org/drawingml/2006/table">
            <a:tbl>
              <a:tblPr/>
              <a:tblGrid>
                <a:gridCol w="2011680"/>
                <a:gridCol w="1371600"/>
                <a:gridCol w="1371600"/>
                <a:gridCol w="1371600"/>
                <a:gridCol w="1554480"/>
              </a:tblGrid>
              <a:tr h="292608">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Dimension / Feature</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Traditional Mandis</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e-NAM Portal</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Generic Agri Apps</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Kisan Mitra (Our Solution)</a:t>
                      </a:r>
                      <a:endParaRPr lang="en-US" sz="85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5803D"/>
                    </a:solidFill>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Farm Telemetry Advisory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 (Hearsay)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 (Trading Only)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Basic static lists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Rule-Based Soil/Water Engine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Intermediary Elimination</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4–6 Middlemen</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APMC Commission Agents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Partial Direct Sales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Direct Farm-Gate Procurement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International Export Gateway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Zero Access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Domestic Only</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16 APEDA/DGFT Global Leads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Full Regional Multilingual</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Not Applicable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Basic English / Hindi</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Limited Support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9 Indian Languages (Full-DOM)</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Dynamic Input Cost &amp; Net ROI</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Rough Estimates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Acreage Modeler + Net Profit</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84048">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Statutory Export Compliance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dirty="0">
                          <a:solidFill>
                            <a:srgbClr val="000000"/>
                          </a:solidFill>
                          <a:latin typeface="Arial" pitchFamily="34" charset="0"/>
                          <a:ea typeface="Arial" pitchFamily="34" charset="-122"/>
                          <a:cs typeface="Arial" pitchFamily="34" charset="-120"/>
                        </a:rPr>
                        <a:t>❌ None</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800" b="1" dirty="0">
                          <a:solidFill>
                            <a:srgbClr val="15803D"/>
                          </a:solidFill>
                          <a:latin typeface="Arial" pitchFamily="34" charset="0"/>
                          <a:ea typeface="Arial" pitchFamily="34" charset="-122"/>
                          <a:cs typeface="Arial" pitchFamily="34" charset="-120"/>
                        </a:rPr>
                        <a:t>✅ Complete Statutory Checklists</a:t>
                      </a:r>
                      <a:endParaRPr lang="en-US" sz="8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56032"/>
            <a:ext cx="5486400" cy="201168"/>
          </a:xfrm>
          <a:prstGeom prst="rect">
            <a:avLst/>
          </a:prstGeom>
          <a:noFill/>
          <a:ln/>
        </p:spPr>
        <p:txBody>
          <a:bodyPr wrap="square" rtlCol="0" anchor="ctr"/>
          <a:lstStyle/>
          <a:p>
            <a:pPr indent="0" marL="0">
              <a:buNone/>
            </a:pPr>
            <a:r>
              <a:rPr lang="en-US" sz="850" b="1" dirty="0">
                <a:solidFill>
                  <a:srgbClr val="86198F"/>
                </a:solidFill>
                <a:latin typeface="Arial" pitchFamily="34" charset="0"/>
                <a:ea typeface="Arial" pitchFamily="34" charset="-122"/>
                <a:cs typeface="Arial" pitchFamily="34" charset="-120"/>
              </a:rPr>
              <a:t>POORNIMA COLLEGE OF ENGINEERING  |  SMART INDIA HACKATHON 2026</a:t>
            </a:r>
            <a:endParaRPr lang="en-US" sz="850" dirty="0"/>
          </a:p>
        </p:txBody>
      </p:sp>
      <p:sp>
        <p:nvSpPr>
          <p:cNvPr id="3" name="Text 1"/>
          <p:cNvSpPr/>
          <p:nvPr/>
        </p:nvSpPr>
        <p:spPr>
          <a:xfrm>
            <a:off x="6400800" y="256032"/>
            <a:ext cx="2011680" cy="201168"/>
          </a:xfrm>
          <a:prstGeom prst="rect">
            <a:avLst/>
          </a:prstGeom>
          <a:noFill/>
          <a:ln/>
        </p:spPr>
        <p:txBody>
          <a:bodyPr wrap="square" rtlCol="0" anchor="ctr"/>
          <a:lstStyle/>
          <a:p>
            <a:pPr algn="r" indent="0" marL="0">
              <a:buNone/>
            </a:pPr>
            <a:r>
              <a:rPr lang="en-US" sz="850" b="1" dirty="0">
                <a:solidFill>
                  <a:srgbClr val="15803D"/>
                </a:solidFill>
                <a:latin typeface="Arial" pitchFamily="34" charset="0"/>
                <a:ea typeface="Arial" pitchFamily="34" charset="-122"/>
                <a:cs typeface="Arial" pitchFamily="34" charset="-120"/>
              </a:rPr>
              <a:t>Team #3414: Parallel Minds</a:t>
            </a:r>
            <a:endParaRPr lang="en-US" sz="850" dirty="0"/>
          </a:p>
        </p:txBody>
      </p:sp>
      <p:sp>
        <p:nvSpPr>
          <p:cNvPr id="4" name="Shape 2"/>
          <p:cNvSpPr/>
          <p:nvPr/>
        </p:nvSpPr>
        <p:spPr>
          <a:xfrm>
            <a:off x="731520" y="475488"/>
            <a:ext cx="7680960" cy="13716"/>
          </a:xfrm>
          <a:prstGeom prst="rect">
            <a:avLst/>
          </a:prstGeom>
          <a:solidFill>
            <a:srgbClr val="E2E8F0"/>
          </a:solidFill>
          <a:ln w="12700">
            <a:solidFill>
              <a:srgbClr val="E2E8F0"/>
            </a:solidFill>
            <a:prstDash val="solid"/>
          </a:ln>
        </p:spPr>
      </p:sp>
      <p:sp>
        <p:nvSpPr>
          <p:cNvPr id="5" name="Text 3"/>
          <p:cNvSpPr/>
          <p:nvPr/>
        </p:nvSpPr>
        <p:spPr>
          <a:xfrm>
            <a:off x="731520" y="548640"/>
            <a:ext cx="7680960" cy="201168"/>
          </a:xfrm>
          <a:prstGeom prst="rect">
            <a:avLst/>
          </a:prstGeom>
          <a:noFill/>
          <a:ln/>
        </p:spPr>
        <p:txBody>
          <a:bodyPr wrap="square" rtlCol="0" anchor="ctr"/>
          <a:lstStyle/>
          <a:p>
            <a:pPr indent="0" marL="0">
              <a:buNone/>
            </a:pPr>
            <a:r>
              <a:rPr lang="en-US" sz="850" b="1" dirty="0">
                <a:solidFill>
                  <a:srgbClr val="15803D"/>
                </a:solidFill>
                <a:latin typeface="Arial" pitchFamily="34" charset="0"/>
                <a:ea typeface="Arial" pitchFamily="34" charset="-122"/>
                <a:cs typeface="Arial" pitchFamily="34" charset="-120"/>
              </a:rPr>
              <a:t>10. SCALABILITY &amp; ROADMAP</a:t>
            </a:r>
            <a:endParaRPr lang="en-US" sz="850" dirty="0"/>
          </a:p>
        </p:txBody>
      </p:sp>
      <p:sp>
        <p:nvSpPr>
          <p:cNvPr id="6" name="Text 4"/>
          <p:cNvSpPr/>
          <p:nvPr/>
        </p:nvSpPr>
        <p:spPr>
          <a:xfrm>
            <a:off x="731520" y="749808"/>
            <a:ext cx="7680960" cy="384048"/>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Strategic Roadmap: From Hackathon to National Impact</a:t>
            </a:r>
            <a:endParaRPr lang="en-US" sz="1800" dirty="0"/>
          </a:p>
        </p:txBody>
      </p:sp>
      <p:sp>
        <p:nvSpPr>
          <p:cNvPr id="7" name="Text 5"/>
          <p:cNvSpPr/>
          <p:nvPr/>
        </p:nvSpPr>
        <p:spPr>
          <a:xfrm>
            <a:off x="731520" y="1115568"/>
            <a:ext cx="7680960" cy="22860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A phased rollout trajectory integrating with national digital public infrastructure</a:t>
            </a:r>
            <a:endParaRPr lang="en-US" sz="950" dirty="0"/>
          </a:p>
        </p:txBody>
      </p:sp>
      <p:sp>
        <p:nvSpPr>
          <p:cNvPr id="8" name="Shape 6"/>
          <p:cNvSpPr/>
          <p:nvPr/>
        </p:nvSpPr>
        <p:spPr>
          <a:xfrm>
            <a:off x="731520" y="1371600"/>
            <a:ext cx="7680960" cy="18288"/>
          </a:xfrm>
          <a:prstGeom prst="rect">
            <a:avLst/>
          </a:prstGeom>
          <a:solidFill>
            <a:srgbClr val="E2E8F0"/>
          </a:solidFill>
          <a:ln w="12700">
            <a:solidFill>
              <a:srgbClr val="E2E8F0"/>
            </a:solidFill>
            <a:prstDash val="solid"/>
          </a:ln>
        </p:spPr>
      </p:sp>
      <p:sp>
        <p:nvSpPr>
          <p:cNvPr id="9" name="Shape 7"/>
          <p:cNvSpPr/>
          <p:nvPr/>
        </p:nvSpPr>
        <p:spPr>
          <a:xfrm>
            <a:off x="731520" y="4800600"/>
            <a:ext cx="7680960" cy="13716"/>
          </a:xfrm>
          <a:prstGeom prst="rect">
            <a:avLst/>
          </a:prstGeom>
          <a:solidFill>
            <a:srgbClr val="E2E8F0"/>
          </a:solidFill>
          <a:ln w="12700">
            <a:solidFill>
              <a:srgbClr val="E2E8F0"/>
            </a:solidFill>
            <a:prstDash val="solid"/>
          </a:ln>
        </p:spPr>
      </p:sp>
      <p:sp>
        <p:nvSpPr>
          <p:cNvPr id="10" name="Text 8"/>
          <p:cNvSpPr/>
          <p:nvPr/>
        </p:nvSpPr>
        <p:spPr>
          <a:xfrm>
            <a:off x="731520" y="4864608"/>
            <a:ext cx="4389120" cy="22860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 Empowering Farmers  |  👥 Stronger Communities  |  📈 Sustainable Future</a:t>
            </a:r>
            <a:endParaRPr lang="en-US" sz="800" dirty="0"/>
          </a:p>
        </p:txBody>
      </p:sp>
      <p:sp>
        <p:nvSpPr>
          <p:cNvPr id="11" name="Text 9"/>
          <p:cNvSpPr/>
          <p:nvPr/>
        </p:nvSpPr>
        <p:spPr>
          <a:xfrm>
            <a:off x="5120640" y="4864608"/>
            <a:ext cx="3291840" cy="228600"/>
          </a:xfrm>
          <a:prstGeom prst="rect">
            <a:avLst/>
          </a:prstGeom>
          <a:noFill/>
          <a:ln/>
        </p:spPr>
        <p:txBody>
          <a:bodyPr wrap="square" rtlCol="0" anchor="ctr"/>
          <a:lstStyle/>
          <a:p>
            <a:pPr algn="r" indent="0" marL="0">
              <a:buNone/>
            </a:pPr>
            <a:r>
              <a:rPr lang="en-US" sz="800" i="1" dirty="0">
                <a:solidFill>
                  <a:srgbClr val="15803D"/>
                </a:solidFill>
                <a:latin typeface="Arial" pitchFamily="34" charset="0"/>
                <a:ea typeface="Arial" pitchFamily="34" charset="-122"/>
                <a:cs typeface="Arial" pitchFamily="34" charset="-120"/>
              </a:rPr>
              <a:t>"Good Food Brighter Tomorrow"  •  Team #3414 Parallel Minds</a:t>
            </a:r>
            <a:endParaRPr lang="en-US" sz="800" dirty="0"/>
          </a:p>
        </p:txBody>
      </p:sp>
      <p:sp>
        <p:nvSpPr>
          <p:cNvPr id="12" name="Shape 10"/>
          <p:cNvSpPr/>
          <p:nvPr/>
        </p:nvSpPr>
        <p:spPr>
          <a:xfrm>
            <a:off x="731520" y="1463040"/>
            <a:ext cx="2468880" cy="3200400"/>
          </a:xfrm>
          <a:prstGeom prst="roundRect">
            <a:avLst>
              <a:gd name="adj" fmla="val 2963"/>
            </a:avLst>
          </a:prstGeom>
          <a:solidFill>
            <a:srgbClr val="F8FAFC"/>
          </a:solidFill>
          <a:ln w="12700">
            <a:solidFill>
              <a:srgbClr val="E2E8F0"/>
            </a:solidFill>
            <a:prstDash val="solid"/>
          </a:ln>
        </p:spPr>
      </p:sp>
      <p:sp>
        <p:nvSpPr>
          <p:cNvPr id="13" name="Shape 11"/>
          <p:cNvSpPr/>
          <p:nvPr/>
        </p:nvSpPr>
        <p:spPr>
          <a:xfrm>
            <a:off x="868680" y="1572768"/>
            <a:ext cx="2194560" cy="256032"/>
          </a:xfrm>
          <a:prstGeom prst="roundRect">
            <a:avLst>
              <a:gd name="adj" fmla="val 14286"/>
            </a:avLst>
          </a:prstGeom>
          <a:solidFill>
            <a:srgbClr val="DCFCE7"/>
          </a:solidFill>
          <a:ln w="6350">
            <a:solidFill>
              <a:srgbClr val="15803D"/>
            </a:solidFill>
            <a:prstDash val="solid"/>
          </a:ln>
        </p:spPr>
      </p:sp>
      <p:sp>
        <p:nvSpPr>
          <p:cNvPr id="14" name="Text 12"/>
          <p:cNvSpPr/>
          <p:nvPr/>
        </p:nvSpPr>
        <p:spPr>
          <a:xfrm>
            <a:off x="868680" y="1572768"/>
            <a:ext cx="2194560" cy="256032"/>
          </a:xfrm>
          <a:prstGeom prst="rect">
            <a:avLst/>
          </a:prstGeom>
          <a:noFill/>
          <a:ln/>
        </p:spPr>
        <p:txBody>
          <a:bodyPr wrap="square" rtlCol="0" anchor="ctr"/>
          <a:lstStyle/>
          <a:p>
            <a:pPr algn="ctr" indent="0" marL="0">
              <a:buNone/>
            </a:pPr>
            <a:r>
              <a:rPr lang="en-US" sz="750" b="1" dirty="0">
                <a:solidFill>
                  <a:srgbClr val="15803D"/>
                </a:solidFill>
                <a:latin typeface="Arial" pitchFamily="34" charset="0"/>
                <a:ea typeface="Arial" pitchFamily="34" charset="-122"/>
                <a:cs typeface="Arial" pitchFamily="34" charset="-120"/>
              </a:rPr>
              <a:t>PHASE 1 (COMPLETED)</a:t>
            </a:r>
            <a:endParaRPr lang="en-US" sz="750" dirty="0"/>
          </a:p>
        </p:txBody>
      </p:sp>
      <p:sp>
        <p:nvSpPr>
          <p:cNvPr id="15" name="Text 13"/>
          <p:cNvSpPr/>
          <p:nvPr/>
        </p:nvSpPr>
        <p:spPr>
          <a:xfrm>
            <a:off x="868680" y="187452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SIH 2026 Prototype</a:t>
            </a:r>
            <a:endParaRPr lang="en-US" sz="1000" dirty="0"/>
          </a:p>
        </p:txBody>
      </p:sp>
      <p:sp>
        <p:nvSpPr>
          <p:cNvPr id="16" name="Text 14"/>
          <p:cNvSpPr/>
          <p:nvPr/>
        </p:nvSpPr>
        <p:spPr>
          <a:xfrm>
            <a:off x="868680" y="2194560"/>
            <a:ext cx="2194560" cy="23317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Full 3-Portal functional ecosystem (Farmer, Buyer, Admin).</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30 Comprehensive ICAR crops &amp; vegetables catalog.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20 Verified harvest listings &amp; 10 institutional inquiries.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16 Bilateral international export contracts ($44.8M).</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58 APMC mandi price feeds &amp; Recharts arbitrage graphs.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100% Full-DOM translation into 9 Indian languages.</a:t>
            </a:r>
            <a:endParaRPr lang="en-US" sz="800" dirty="0"/>
          </a:p>
        </p:txBody>
      </p:sp>
      <p:sp>
        <p:nvSpPr>
          <p:cNvPr id="17" name="Shape 15"/>
          <p:cNvSpPr/>
          <p:nvPr/>
        </p:nvSpPr>
        <p:spPr>
          <a:xfrm>
            <a:off x="3337560" y="1463040"/>
            <a:ext cx="2468880" cy="3200400"/>
          </a:xfrm>
          <a:prstGeom prst="roundRect">
            <a:avLst>
              <a:gd name="adj" fmla="val 2963"/>
            </a:avLst>
          </a:prstGeom>
          <a:solidFill>
            <a:srgbClr val="F8FAFC"/>
          </a:solidFill>
          <a:ln w="12700">
            <a:solidFill>
              <a:srgbClr val="E2E8F0"/>
            </a:solidFill>
            <a:prstDash val="solid"/>
          </a:ln>
        </p:spPr>
      </p:sp>
      <p:sp>
        <p:nvSpPr>
          <p:cNvPr id="18" name="Shape 16"/>
          <p:cNvSpPr/>
          <p:nvPr/>
        </p:nvSpPr>
        <p:spPr>
          <a:xfrm>
            <a:off x="3474720" y="1572768"/>
            <a:ext cx="2194560" cy="256032"/>
          </a:xfrm>
          <a:prstGeom prst="roundRect">
            <a:avLst>
              <a:gd name="adj" fmla="val 14286"/>
            </a:avLst>
          </a:prstGeom>
          <a:solidFill>
            <a:srgbClr val="F1F5F9"/>
          </a:solidFill>
          <a:ln w="6350">
            <a:solidFill>
              <a:srgbClr val="0F172A"/>
            </a:solidFill>
            <a:prstDash val="solid"/>
          </a:ln>
        </p:spPr>
      </p:sp>
      <p:sp>
        <p:nvSpPr>
          <p:cNvPr id="19" name="Text 17"/>
          <p:cNvSpPr/>
          <p:nvPr/>
        </p:nvSpPr>
        <p:spPr>
          <a:xfrm>
            <a:off x="3474720" y="1572768"/>
            <a:ext cx="2194560" cy="256032"/>
          </a:xfrm>
          <a:prstGeom prst="rect">
            <a:avLst/>
          </a:prstGeom>
          <a:noFill/>
          <a:ln/>
        </p:spPr>
        <p:txBody>
          <a:bodyPr wrap="square" rtlCol="0" anchor="ctr"/>
          <a:lstStyle/>
          <a:p>
            <a:pPr algn="ctr" indent="0" marL="0">
              <a:buNone/>
            </a:pPr>
            <a:r>
              <a:rPr lang="en-US" sz="750" b="1" dirty="0">
                <a:solidFill>
                  <a:srgbClr val="0F172A"/>
                </a:solidFill>
                <a:latin typeface="Arial" pitchFamily="34" charset="0"/>
                <a:ea typeface="Arial" pitchFamily="34" charset="-122"/>
                <a:cs typeface="Arial" pitchFamily="34" charset="-120"/>
              </a:rPr>
              <a:t>PHASE 2 (NEXT 6 MONTHS)</a:t>
            </a:r>
            <a:endParaRPr lang="en-US" sz="750" dirty="0"/>
          </a:p>
        </p:txBody>
      </p:sp>
      <p:sp>
        <p:nvSpPr>
          <p:cNvPr id="20" name="Text 18"/>
          <p:cNvSpPr/>
          <p:nvPr/>
        </p:nvSpPr>
        <p:spPr>
          <a:xfrm>
            <a:off x="3474720" y="187452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Ecosystem Expansion</a:t>
            </a:r>
            <a:endParaRPr lang="en-US" sz="1000" dirty="0"/>
          </a:p>
        </p:txBody>
      </p:sp>
      <p:sp>
        <p:nvSpPr>
          <p:cNvPr id="21" name="Text 19"/>
          <p:cNvSpPr/>
          <p:nvPr/>
        </p:nvSpPr>
        <p:spPr>
          <a:xfrm>
            <a:off x="3474720" y="2194560"/>
            <a:ext cx="2194560" cy="23317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ONDC Integration: Open Network for Digital Commerce logistics.</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WhatsApp Agri-Bot: Voice-driven crop advice via Twilio API.</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Computer Vision AI: Smartphone camera quality grading.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Cloud Firestore &amp; Backend: Multi-tenant production scale.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Pilot Launch: 50 FPOs across Rajasthan, Maharashtra, and Gujarat.</a:t>
            </a:r>
            <a:endParaRPr lang="en-US" sz="800" dirty="0"/>
          </a:p>
        </p:txBody>
      </p:sp>
      <p:sp>
        <p:nvSpPr>
          <p:cNvPr id="22" name="Shape 20"/>
          <p:cNvSpPr/>
          <p:nvPr/>
        </p:nvSpPr>
        <p:spPr>
          <a:xfrm>
            <a:off x="5943600" y="1463040"/>
            <a:ext cx="2468880" cy="3200400"/>
          </a:xfrm>
          <a:prstGeom prst="roundRect">
            <a:avLst>
              <a:gd name="adj" fmla="val 2963"/>
            </a:avLst>
          </a:prstGeom>
          <a:solidFill>
            <a:srgbClr val="F8FAFC"/>
          </a:solidFill>
          <a:ln w="12700">
            <a:solidFill>
              <a:srgbClr val="E2E8F0"/>
            </a:solidFill>
            <a:prstDash val="solid"/>
          </a:ln>
        </p:spPr>
      </p:sp>
      <p:sp>
        <p:nvSpPr>
          <p:cNvPr id="23" name="Shape 21"/>
          <p:cNvSpPr/>
          <p:nvPr/>
        </p:nvSpPr>
        <p:spPr>
          <a:xfrm>
            <a:off x="6080760" y="1572768"/>
            <a:ext cx="2194560" cy="256032"/>
          </a:xfrm>
          <a:prstGeom prst="roundRect">
            <a:avLst>
              <a:gd name="adj" fmla="val 14286"/>
            </a:avLst>
          </a:prstGeom>
          <a:solidFill>
            <a:srgbClr val="FEF3C7"/>
          </a:solidFill>
          <a:ln w="6350">
            <a:solidFill>
              <a:srgbClr val="B45309"/>
            </a:solidFill>
            <a:prstDash val="solid"/>
          </a:ln>
        </p:spPr>
      </p:sp>
      <p:sp>
        <p:nvSpPr>
          <p:cNvPr id="24" name="Text 22"/>
          <p:cNvSpPr/>
          <p:nvPr/>
        </p:nvSpPr>
        <p:spPr>
          <a:xfrm>
            <a:off x="6080760" y="1572768"/>
            <a:ext cx="2194560" cy="256032"/>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PHASE 3 (MONTHS 6–18)</a:t>
            </a:r>
            <a:endParaRPr lang="en-US" sz="750" dirty="0"/>
          </a:p>
        </p:txBody>
      </p:sp>
      <p:sp>
        <p:nvSpPr>
          <p:cNvPr id="25" name="Text 23"/>
          <p:cNvSpPr/>
          <p:nvPr/>
        </p:nvSpPr>
        <p:spPr>
          <a:xfrm>
            <a:off x="6080760" y="1874520"/>
            <a:ext cx="219456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Nationwide Scale</a:t>
            </a:r>
            <a:endParaRPr lang="en-US" sz="1000" dirty="0"/>
          </a:p>
        </p:txBody>
      </p:sp>
      <p:sp>
        <p:nvSpPr>
          <p:cNvPr id="26" name="Text 24"/>
          <p:cNvSpPr/>
          <p:nvPr/>
        </p:nvSpPr>
        <p:spPr>
          <a:xfrm>
            <a:off x="6080760" y="2194560"/>
            <a:ext cx="2194560" cy="233172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e-RUPI / Smart Contract Escrow: Instant farmer settlement upon digital QA signoff.</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IoT Soil Sensor Feeds: Automated telemetry data capture.</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Satellite InSAR Soil Moisture: Micro-climate drought tracking.</a:t>
            </a:r>
            <a:endParaRPr lang="en-US" sz="800" dirty="0"/>
          </a:p>
          <a:p>
            <a:pPr indent="0" marL="0">
              <a:buNone/>
            </a:pPr>
            <a:endParaRPr lang="en-US" sz="800" dirty="0"/>
          </a:p>
          <a:p>
            <a:pPr indent="0" marL="0">
              <a:buNone/>
            </a:pPr>
            <a:r>
              <a:rPr lang="en-US" sz="800" dirty="0">
                <a:solidFill>
                  <a:srgbClr val="1E293B"/>
                </a:solidFill>
                <a:latin typeface="Arial" pitchFamily="34" charset="0"/>
                <a:ea typeface="Arial" pitchFamily="34" charset="-122"/>
                <a:cs typeface="Arial" pitchFamily="34" charset="-120"/>
              </a:rPr>
              <a:t>✔  Ministry Data Webhooks: Real-time Agmarknet &amp; APEDA synchronization.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2818"/>
        </a:solidFill>
      </p:bgPr>
    </p:bg>
    <p:spTree>
      <p:nvGrpSpPr>
        <p:cNvPr id="1" name=""/>
        <p:cNvGrpSpPr/>
        <p:nvPr/>
      </p:nvGrpSpPr>
      <p:grpSpPr>
        <a:xfrm>
          <a:off x="0" y="0"/>
          <a:ext cx="0" cy="0"/>
          <a:chOff x="0" y="0"/>
          <a:chExt cx="0" cy="0"/>
        </a:xfrm>
      </p:grpSpPr>
      <p:sp>
        <p:nvSpPr>
          <p:cNvPr id="2" name="Shape 0"/>
          <p:cNvSpPr/>
          <p:nvPr/>
        </p:nvSpPr>
        <p:spPr>
          <a:xfrm>
            <a:off x="731520" y="365760"/>
            <a:ext cx="2560320" cy="45720"/>
          </a:xfrm>
          <a:prstGeom prst="rect">
            <a:avLst/>
          </a:prstGeom>
          <a:solidFill>
            <a:srgbClr val="FF9933"/>
          </a:solidFill>
          <a:ln w="12700">
            <a:solidFill>
              <a:srgbClr val="FF9933"/>
            </a:solidFill>
            <a:prstDash val="solid"/>
          </a:ln>
        </p:spPr>
      </p:sp>
      <p:sp>
        <p:nvSpPr>
          <p:cNvPr id="3" name="Shape 1"/>
          <p:cNvSpPr/>
          <p:nvPr/>
        </p:nvSpPr>
        <p:spPr>
          <a:xfrm>
            <a:off x="3291840" y="365760"/>
            <a:ext cx="2560320" cy="45720"/>
          </a:xfrm>
          <a:prstGeom prst="rect">
            <a:avLst/>
          </a:prstGeom>
          <a:solidFill>
            <a:srgbClr val="FFFFFF"/>
          </a:solidFill>
          <a:ln w="12700">
            <a:solidFill>
              <a:srgbClr val="FFFFFF"/>
            </a:solidFill>
            <a:prstDash val="solid"/>
          </a:ln>
        </p:spPr>
      </p:sp>
      <p:sp>
        <p:nvSpPr>
          <p:cNvPr id="4" name="Shape 2"/>
          <p:cNvSpPr/>
          <p:nvPr/>
        </p:nvSpPr>
        <p:spPr>
          <a:xfrm>
            <a:off x="5852160" y="365760"/>
            <a:ext cx="2560320" cy="45720"/>
          </a:xfrm>
          <a:prstGeom prst="rect">
            <a:avLst/>
          </a:prstGeom>
          <a:solidFill>
            <a:srgbClr val="138808"/>
          </a:solidFill>
          <a:ln w="12700">
            <a:solidFill>
              <a:srgbClr val="138808"/>
            </a:solidFill>
            <a:prstDash val="solid"/>
          </a:ln>
        </p:spPr>
      </p:sp>
      <p:sp>
        <p:nvSpPr>
          <p:cNvPr id="5" name="Text 3"/>
          <p:cNvSpPr/>
          <p:nvPr/>
        </p:nvSpPr>
        <p:spPr>
          <a:xfrm>
            <a:off x="731520" y="640080"/>
            <a:ext cx="7680960" cy="274320"/>
          </a:xfrm>
          <a:prstGeom prst="rect">
            <a:avLst/>
          </a:prstGeom>
          <a:noFill/>
          <a:ln/>
        </p:spPr>
        <p:txBody>
          <a:bodyPr wrap="square" rtlCol="0" anchor="ctr"/>
          <a:lstStyle/>
          <a:p>
            <a:pPr indent="0" marL="0">
              <a:buNone/>
            </a:pPr>
            <a:r>
              <a:rPr lang="en-US" sz="1100" b="1" dirty="0">
                <a:solidFill>
                  <a:srgbClr val="86EFAC"/>
                </a:solidFill>
                <a:latin typeface="Arial" pitchFamily="34" charset="0"/>
                <a:ea typeface="Arial" pitchFamily="34" charset="-122"/>
                <a:cs typeface="Arial" pitchFamily="34" charset="-120"/>
              </a:rPr>
              <a:t>CONCLUSION &amp; PITCH SUMMARY</a:t>
            </a:r>
            <a:endParaRPr lang="en-US" sz="1100" dirty="0"/>
          </a:p>
        </p:txBody>
      </p:sp>
      <p:sp>
        <p:nvSpPr>
          <p:cNvPr id="6" name="Text 4"/>
          <p:cNvSpPr/>
          <p:nvPr/>
        </p:nvSpPr>
        <p:spPr>
          <a:xfrm>
            <a:off x="731520" y="960120"/>
            <a:ext cx="7680960" cy="5029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Empowering 140 Million Indian Farmers</a:t>
            </a:r>
            <a:endParaRPr lang="en-US" sz="2600" dirty="0"/>
          </a:p>
        </p:txBody>
      </p:sp>
      <p:sp>
        <p:nvSpPr>
          <p:cNvPr id="7" name="Text 5"/>
          <p:cNvSpPr/>
          <p:nvPr/>
        </p:nvSpPr>
        <p:spPr>
          <a:xfrm>
            <a:off x="731520" y="1481328"/>
            <a:ext cx="7680960" cy="411480"/>
          </a:xfrm>
          <a:prstGeom prst="rect">
            <a:avLst/>
          </a:prstGeom>
          <a:noFill/>
          <a:ln/>
        </p:spPr>
        <p:txBody>
          <a:bodyPr wrap="square" rtlCol="0" anchor="ctr"/>
          <a:lstStyle/>
          <a:p>
            <a:pPr indent="0" marL="0">
              <a:buNone/>
            </a:pPr>
            <a:r>
              <a:rPr lang="en-US" sz="1150" dirty="0">
                <a:solidFill>
                  <a:srgbClr val="E2E8F0"/>
                </a:solidFill>
                <a:latin typeface="Arial" pitchFamily="34" charset="0"/>
                <a:ea typeface="Arial" pitchFamily="34" charset="-122"/>
                <a:cs typeface="Arial" pitchFamily="34" charset="-120"/>
              </a:rPr>
              <a:t>Our Vision: To build a digitally empowered farming community where every farmer has the right information, better opportunities and a fair price for their produce.</a:t>
            </a:r>
            <a:endParaRPr lang="en-US" sz="1150" dirty="0"/>
          </a:p>
        </p:txBody>
      </p:sp>
      <p:sp>
        <p:nvSpPr>
          <p:cNvPr id="8" name="Shape 6"/>
          <p:cNvSpPr/>
          <p:nvPr/>
        </p:nvSpPr>
        <p:spPr>
          <a:xfrm>
            <a:off x="731520" y="2011680"/>
            <a:ext cx="7680960" cy="594360"/>
          </a:xfrm>
          <a:prstGeom prst="roundRect">
            <a:avLst>
              <a:gd name="adj" fmla="val 9231"/>
            </a:avLst>
          </a:prstGeom>
          <a:solidFill>
            <a:srgbClr val="0F3E26"/>
          </a:solidFill>
          <a:ln w="12700">
            <a:solidFill>
              <a:srgbClr val="22C55E"/>
            </a:solidFill>
            <a:prstDash val="solid"/>
          </a:ln>
        </p:spPr>
      </p:sp>
      <p:sp>
        <p:nvSpPr>
          <p:cNvPr id="9" name="Text 7"/>
          <p:cNvSpPr/>
          <p:nvPr/>
        </p:nvSpPr>
        <p:spPr>
          <a:xfrm>
            <a:off x="914400" y="212140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 Agronomic Precision — Cuts input costs by 20–30% and prevents market gluts using ICAR benchmarks.</a:t>
            </a:r>
            <a:endParaRPr lang="en-US" sz="1000" dirty="0"/>
          </a:p>
        </p:txBody>
      </p:sp>
      <p:sp>
        <p:nvSpPr>
          <p:cNvPr id="10" name="Shape 8"/>
          <p:cNvSpPr/>
          <p:nvPr/>
        </p:nvSpPr>
        <p:spPr>
          <a:xfrm>
            <a:off x="731520" y="2697480"/>
            <a:ext cx="7680960" cy="594360"/>
          </a:xfrm>
          <a:prstGeom prst="roundRect">
            <a:avLst>
              <a:gd name="adj" fmla="val 9231"/>
            </a:avLst>
          </a:prstGeom>
          <a:solidFill>
            <a:srgbClr val="0F3E26"/>
          </a:solidFill>
          <a:ln w="12700">
            <a:solidFill>
              <a:srgbClr val="22C55E"/>
            </a:solidFill>
            <a:prstDash val="solid"/>
          </a:ln>
        </p:spPr>
      </p:sp>
      <p:sp>
        <p:nvSpPr>
          <p:cNvPr id="11" name="Text 9"/>
          <p:cNvSpPr/>
          <p:nvPr/>
        </p:nvSpPr>
        <p:spPr>
          <a:xfrm>
            <a:off x="914400" y="280720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2. Direct Market Realization — Boosts farmer net income by 30–50% by eliminating intermediary commission agents.</a:t>
            </a:r>
            <a:endParaRPr lang="en-US" sz="1000" dirty="0"/>
          </a:p>
        </p:txBody>
      </p:sp>
      <p:sp>
        <p:nvSpPr>
          <p:cNvPr id="12" name="Shape 10"/>
          <p:cNvSpPr/>
          <p:nvPr/>
        </p:nvSpPr>
        <p:spPr>
          <a:xfrm>
            <a:off x="731520" y="3383280"/>
            <a:ext cx="7680960" cy="594360"/>
          </a:xfrm>
          <a:prstGeom prst="roundRect">
            <a:avLst>
              <a:gd name="adj" fmla="val 9231"/>
            </a:avLst>
          </a:prstGeom>
          <a:solidFill>
            <a:srgbClr val="0F3E26"/>
          </a:solidFill>
          <a:ln w="12700">
            <a:solidFill>
              <a:srgbClr val="22C55E"/>
            </a:solidFill>
            <a:prstDash val="solid"/>
          </a:ln>
        </p:spPr>
      </p:sp>
      <p:sp>
        <p:nvSpPr>
          <p:cNvPr id="13" name="Text 11"/>
          <p:cNvSpPr/>
          <p:nvPr/>
        </p:nvSpPr>
        <p:spPr>
          <a:xfrm>
            <a:off x="914400" y="3493008"/>
            <a:ext cx="7315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3. Global Export Vision — Connects FPOs to $44.8M in overseas demand with complete statutory checklists.</a:t>
            </a:r>
            <a:endParaRPr lang="en-US" sz="1000" dirty="0"/>
          </a:p>
        </p:txBody>
      </p:sp>
      <p:sp>
        <p:nvSpPr>
          <p:cNvPr id="14" name="Shape 12"/>
          <p:cNvSpPr/>
          <p:nvPr/>
        </p:nvSpPr>
        <p:spPr>
          <a:xfrm>
            <a:off x="731520" y="4206240"/>
            <a:ext cx="7680960" cy="594360"/>
          </a:xfrm>
          <a:prstGeom prst="roundRect">
            <a:avLst>
              <a:gd name="adj" fmla="val 9231"/>
            </a:avLst>
          </a:prstGeom>
          <a:solidFill>
            <a:srgbClr val="051B10"/>
          </a:solidFill>
          <a:ln w="12700">
            <a:solidFill>
              <a:srgbClr val="15803D"/>
            </a:solidFill>
            <a:prstDash val="solid"/>
          </a:ln>
        </p:spPr>
      </p:sp>
      <p:sp>
        <p:nvSpPr>
          <p:cNvPr id="15" name="Text 13"/>
          <p:cNvSpPr/>
          <p:nvPr/>
        </p:nvSpPr>
        <p:spPr>
          <a:xfrm>
            <a:off x="822960" y="4251960"/>
            <a:ext cx="7498080" cy="502920"/>
          </a:xfrm>
          <a:prstGeom prst="rect">
            <a:avLst/>
          </a:prstGeom>
          <a:noFill/>
          <a:ln/>
        </p:spPr>
        <p:txBody>
          <a:bodyPr wrap="square" rtlCol="0" anchor="ctr"/>
          <a:lstStyle/>
          <a:p>
            <a:pPr algn="ctr" indent="0" marL="0">
              <a:buNone/>
            </a:pPr>
            <a:r>
              <a:rPr lang="en-US" sz="950" b="1" dirty="0">
                <a:solidFill>
                  <a:srgbClr val="FCD34D"/>
                </a:solidFill>
                <a:latin typeface="Arial" pitchFamily="34" charset="0"/>
                <a:ea typeface="Arial" pitchFamily="34" charset="-122"/>
                <a:cs typeface="Arial" pitchFamily="34" charset="-120"/>
              </a:rPr>
              <a:t>Team #3414: Parallel Minds  •  Poornima College of Engineering, Jaipur  •  Live Demo: http://localhost:5173/</a:t>
            </a:r>
            <a:endParaRPr lang="en-US" sz="950" dirty="0"/>
          </a:p>
          <a:p>
            <a:pPr algn="ctr" indent="0" marL="0">
              <a:buNone/>
            </a:pPr>
            <a:r>
              <a:rPr lang="en-US" sz="950" b="1" dirty="0">
                <a:solidFill>
                  <a:srgbClr val="FCD34D"/>
                </a:solidFill>
                <a:latin typeface="Arial" pitchFamily="34" charset="0"/>
                <a:ea typeface="Arial" pitchFamily="34" charset="-122"/>
                <a:cs typeface="Arial" pitchFamily="34" charset="-120"/>
              </a:rPr>
              <a:t>Thank you, Respected Judges! We welcome your questions.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 Mitra - Smart Farmer Assistant &amp; Direct Crop Marketplace</dc:title>
  <dc:subject>PptxGenJS Presentation</dc:subject>
  <dc:creator>Team #3414 Parallel Minds - Poornima College of Engineering</dc:creator>
  <cp:lastModifiedBy>Team #3414 Parallel Minds - Poornima College of Engineering</cp:lastModifiedBy>
  <cp:revision>1</cp:revision>
  <dcterms:created xsi:type="dcterms:W3CDTF">2026-09-21T19:17:02Z</dcterms:created>
  <dcterms:modified xsi:type="dcterms:W3CDTF">2026-09-21T19:17:02Z</dcterms:modified>
</cp:coreProperties>
</file>