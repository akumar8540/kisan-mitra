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1 - 20 seconds):
Respected judges, Indian agriculture feeds 1.4 billion people, yet the average farmer remains trapped in low-income cycles due to uninformed crop choices and heavy intermediary exploitation. We present Kisan Mitra — a unified 3-portal full-stack ecosystem built to bridge the gap from farm-gate intelligence to direct domestic sales and global export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2 - 35 seconds):
Judges, our research identified three structural bottlenecks. First, farmers sow blindly based on rumors, causing gluts where perishables are dumped on highways. Second, up to 6 layers of APMC middlemen siphon off 40% of the value. Third, despite booming international food demand, small farmers are completely cut off from high-value APEDA export contracts. Kisan Mitra is engineered to break all three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3 - 35 seconds):
Rather than building an isolated app, we built a 3-portal architecture. For the farmer, an intelligent advisor optimizing what to grow and how much it costs. For commercial buyers like Reliance Retail and MDH, an e-marketplace to procure directly. And crucially, a dedicated International Export Portal connecting FPOs with multi-million-dollar government-verified trade leads from APEDA and DGFT.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4 - 35 seconds):
What sets our engineering apart? First, explainable AI: farmers don't trust black boxes; our system explains WHY a crop is chosen. Second, true 100% full-page translation into 9 Indian languages. Third, interactive mandi price arbitrage visualizers. And fourth, an export desk that turns complex international trade documents into an intuitive one-click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5 - 30 seconds):
Our system architecture uses React 19 and Tailwind for a blistering fast, mobile-first experience. Visualizations are driven by Recharts. Crucially, all data operations use an asynchronous repository contract: while our prototype runs blazingly fast in local storage, migrating to Cloud Firestore or a Python backend requires zero changes to the front-end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6 - 35 seconds):
Judges, every screen you see here is fully operational in our code. On screen one, the farmer gets exact NPK doses and profit forecasts. Screen two plots 58 live APMC mandi feeds. Screen three lets institutional buyers browse 20 authentic harvest lots. And screen four allows FPOs to bid directly on overseas contracts like our $2,450/MT pomegranate export lead to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7 - 30 seconds):
Judges often ask: 'How are you different from e-NAM?' This matrix gives the definitive answer. e-NAM is strictly an electronic mandi auction platform for existing APMC commission agents. Kisan Mitra starts months earlier at sowing with agronomic guidance, bypasses commission agents, and includes a full cross-border export corridor that e-NAM does not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8 - 30 seconds):
The socio-economic numbers are undeniable. By removing 4 to 6 middlemen layers, net farmer margins increase by up to 40%. Export corridors unlock up to 73% higher realization on crops like Alphonso mangoes and Bhagwa pomegranates. And our 9-language architecture ensures true grassroots inclusivity.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9 - 30 seconds):
We have a clear roadmap. Phase 1 is complete and running live today. In Phase 2, we will integrate with ONDC for trucking logistics and deploy a WhatsApp voice bot for farmers who cannot type. In Phase 3, we incorporate e-RUPI smart-contract escrow payments to ensure instantaneous payment release upon delivery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10 - 25 seconds):
In conclusion, Kisan Mitra turns Indian farmers from price-takers into empowered agri-entrepreneurs. We have built a robust, verified, and culturally inclusive prototype grounded in government data. Thank you, respected jury members. We are eager to answer your questions and demonstrate any of the three portals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1C"/>
        </a:solidFill>
      </p:bgPr>
    </p:bg>
    <p:spTree>
      <p:nvGrpSpPr>
        <p:cNvPr id="1" name=""/>
        <p:cNvGrpSpPr/>
        <p:nvPr/>
      </p:nvGrpSpPr>
      <p:grpSpPr>
        <a:xfrm>
          <a:off x="0" y="0"/>
          <a:ext cx="0" cy="0"/>
          <a:chOff x="0" y="0"/>
          <a:chExt cx="0" cy="0"/>
        </a:xfrm>
      </p:grpSpPr>
      <p:sp>
        <p:nvSpPr>
          <p:cNvPr id="2" name="Shape 0"/>
          <p:cNvSpPr/>
          <p:nvPr/>
        </p:nvSpPr>
        <p:spPr>
          <a:xfrm>
            <a:off x="731520" y="457200"/>
            <a:ext cx="2560320" cy="54864"/>
          </a:xfrm>
          <a:prstGeom prst="rect">
            <a:avLst/>
          </a:prstGeom>
          <a:solidFill>
            <a:srgbClr val="FF9933"/>
          </a:solidFill>
          <a:ln w="12700">
            <a:solidFill>
              <a:srgbClr val="FF9933"/>
            </a:solidFill>
            <a:prstDash val="solid"/>
          </a:ln>
        </p:spPr>
      </p:sp>
      <p:sp>
        <p:nvSpPr>
          <p:cNvPr id="3" name="Shape 1"/>
          <p:cNvSpPr/>
          <p:nvPr/>
        </p:nvSpPr>
        <p:spPr>
          <a:xfrm>
            <a:off x="3291840" y="457200"/>
            <a:ext cx="2560320" cy="54864"/>
          </a:xfrm>
          <a:prstGeom prst="rect">
            <a:avLst/>
          </a:prstGeom>
          <a:solidFill>
            <a:srgbClr val="FFFFFF"/>
          </a:solidFill>
          <a:ln w="12700">
            <a:solidFill>
              <a:srgbClr val="FFFFFF"/>
            </a:solidFill>
            <a:prstDash val="solid"/>
          </a:ln>
        </p:spPr>
      </p:sp>
      <p:sp>
        <p:nvSpPr>
          <p:cNvPr id="4" name="Shape 2"/>
          <p:cNvSpPr/>
          <p:nvPr/>
        </p:nvSpPr>
        <p:spPr>
          <a:xfrm>
            <a:off x="5852160" y="457200"/>
            <a:ext cx="2560320" cy="54864"/>
          </a:xfrm>
          <a:prstGeom prst="rect">
            <a:avLst/>
          </a:prstGeom>
          <a:solidFill>
            <a:srgbClr val="138808"/>
          </a:solidFill>
          <a:ln w="12700">
            <a:solidFill>
              <a:srgbClr val="138808"/>
            </a:solidFill>
            <a:prstDash val="solid"/>
          </a:ln>
        </p:spPr>
      </p:sp>
      <p:sp>
        <p:nvSpPr>
          <p:cNvPr id="5" name="Shape 3"/>
          <p:cNvSpPr/>
          <p:nvPr/>
        </p:nvSpPr>
        <p:spPr>
          <a:xfrm>
            <a:off x="731520" y="777240"/>
            <a:ext cx="2926080" cy="320040"/>
          </a:xfrm>
          <a:prstGeom prst="roundRect">
            <a:avLst>
              <a:gd name="adj" fmla="val 28571"/>
            </a:avLst>
          </a:prstGeom>
          <a:solidFill>
            <a:srgbClr val="155724"/>
          </a:solidFill>
          <a:ln w="12700">
            <a:solidFill>
              <a:srgbClr val="28A745"/>
            </a:solidFill>
            <a:prstDash val="solid"/>
          </a:ln>
        </p:spPr>
      </p:sp>
      <p:sp>
        <p:nvSpPr>
          <p:cNvPr id="6" name="Text 4"/>
          <p:cNvSpPr/>
          <p:nvPr/>
        </p:nvSpPr>
        <p:spPr>
          <a:xfrm>
            <a:off x="731520" y="777240"/>
            <a:ext cx="2926080" cy="320040"/>
          </a:xfrm>
          <a:prstGeom prst="rect">
            <a:avLst/>
          </a:prstGeom>
          <a:noFill/>
          <a:ln/>
        </p:spPr>
        <p:txBody>
          <a:bodyPr wrap="square" rtlCol="0" anchor="ctr"/>
          <a:lstStyle/>
          <a:p>
            <a:pPr algn="ctr" indent="0" marL="0">
              <a:buNone/>
            </a:pPr>
            <a:r>
              <a:rPr lang="en-US" sz="900" b="1" dirty="0">
                <a:solidFill>
                  <a:srgbClr val="D4EDDA"/>
                </a:solidFill>
                <a:latin typeface="Arial" pitchFamily="34" charset="0"/>
                <a:ea typeface="Arial" pitchFamily="34" charset="-122"/>
                <a:cs typeface="Arial" pitchFamily="34" charset="-120"/>
              </a:rPr>
              <a:t>SMART INDIA HACKATHON 2026</a:t>
            </a:r>
            <a:endParaRPr lang="en-US" sz="900" dirty="0"/>
          </a:p>
        </p:txBody>
      </p:sp>
      <p:sp>
        <p:nvSpPr>
          <p:cNvPr id="7" name="Text 5"/>
          <p:cNvSpPr/>
          <p:nvPr/>
        </p:nvSpPr>
        <p:spPr>
          <a:xfrm>
            <a:off x="731520" y="1234440"/>
            <a:ext cx="7680960" cy="77724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KISAN MITRA</a:t>
            </a:r>
            <a:endParaRPr lang="en-US" sz="3800" dirty="0"/>
          </a:p>
        </p:txBody>
      </p:sp>
      <p:sp>
        <p:nvSpPr>
          <p:cNvPr id="8" name="Text 6"/>
          <p:cNvSpPr/>
          <p:nvPr/>
        </p:nvSpPr>
        <p:spPr>
          <a:xfrm>
            <a:off x="731520" y="1965960"/>
            <a:ext cx="7680960" cy="411480"/>
          </a:xfrm>
          <a:prstGeom prst="rect">
            <a:avLst/>
          </a:prstGeom>
          <a:noFill/>
          <a:ln/>
        </p:spPr>
        <p:txBody>
          <a:bodyPr wrap="square" rtlCol="0" anchor="ctr"/>
          <a:lstStyle/>
          <a:p>
            <a:pPr indent="0" marL="0">
              <a:buNone/>
            </a:pPr>
            <a:r>
              <a:rPr lang="en-US" sz="1600" b="1" dirty="0">
                <a:solidFill>
                  <a:srgbClr val="86EFAC"/>
                </a:solidFill>
                <a:latin typeface="Arial" pitchFamily="34" charset="0"/>
                <a:ea typeface="Arial" pitchFamily="34" charset="-122"/>
                <a:cs typeface="Arial" pitchFamily="34" charset="-120"/>
              </a:rPr>
              <a:t>Smart Farmer Assistant + Direct Crop Marketplace</a:t>
            </a:r>
            <a:endParaRPr lang="en-US" sz="1600" dirty="0"/>
          </a:p>
        </p:txBody>
      </p:sp>
      <p:sp>
        <p:nvSpPr>
          <p:cNvPr id="9" name="Text 7"/>
          <p:cNvSpPr/>
          <p:nvPr/>
        </p:nvSpPr>
        <p:spPr>
          <a:xfrm>
            <a:off x="731520" y="2423160"/>
            <a:ext cx="7680960" cy="365760"/>
          </a:xfrm>
          <a:prstGeom prst="rect">
            <a:avLst/>
          </a:prstGeom>
          <a:noFill/>
          <a:ln/>
        </p:spPr>
        <p:txBody>
          <a:bodyPr wrap="square" rtlCol="0" anchor="ctr"/>
          <a:lstStyle/>
          <a:p>
            <a:pPr indent="0" marL="0">
              <a:buNone/>
            </a:pPr>
            <a:r>
              <a:rPr lang="en-US" sz="1200" i="1" dirty="0">
                <a:solidFill>
                  <a:srgbClr val="E2E8F0"/>
                </a:solidFill>
                <a:latin typeface="Arial" pitchFamily="34" charset="0"/>
                <a:ea typeface="Arial" pitchFamily="34" charset="-122"/>
                <a:cs typeface="Arial" pitchFamily="34" charset="-120"/>
              </a:rPr>
              <a:t>"Bridging the Soil-to-Market Divide: From Agronomic Intelligence to Global Export Realization"</a:t>
            </a:r>
            <a:endParaRPr lang="en-US" sz="1200" dirty="0"/>
          </a:p>
        </p:txBody>
      </p:sp>
      <p:sp>
        <p:nvSpPr>
          <p:cNvPr id="10" name="Shape 8"/>
          <p:cNvSpPr/>
          <p:nvPr/>
        </p:nvSpPr>
        <p:spPr>
          <a:xfrm>
            <a:off x="731520" y="2971800"/>
            <a:ext cx="1828800" cy="868680"/>
          </a:xfrm>
          <a:prstGeom prst="roundRect">
            <a:avLst>
              <a:gd name="adj" fmla="val 8421"/>
            </a:avLst>
          </a:prstGeom>
          <a:solidFill>
            <a:srgbClr val="134E31"/>
          </a:solidFill>
          <a:ln w="12700">
            <a:solidFill>
              <a:srgbClr val="22C55E"/>
            </a:solidFill>
            <a:prstDash val="solid"/>
          </a:ln>
        </p:spPr>
      </p:sp>
      <p:sp>
        <p:nvSpPr>
          <p:cNvPr id="11" name="Text 9"/>
          <p:cNvSpPr/>
          <p:nvPr/>
        </p:nvSpPr>
        <p:spPr>
          <a:xfrm>
            <a:off x="731520" y="306324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30 Crops</a:t>
            </a:r>
            <a:endParaRPr lang="en-US" sz="1300" dirty="0"/>
          </a:p>
        </p:txBody>
      </p:sp>
      <p:sp>
        <p:nvSpPr>
          <p:cNvPr id="12" name="Text 10"/>
          <p:cNvSpPr/>
          <p:nvPr/>
        </p:nvSpPr>
        <p:spPr>
          <a:xfrm>
            <a:off x="731520" y="342900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ICAR Agronomic Data</a:t>
            </a:r>
            <a:endParaRPr lang="en-US" sz="800" dirty="0"/>
          </a:p>
        </p:txBody>
      </p:sp>
      <p:sp>
        <p:nvSpPr>
          <p:cNvPr id="13" name="Shape 11"/>
          <p:cNvSpPr/>
          <p:nvPr/>
        </p:nvSpPr>
        <p:spPr>
          <a:xfrm>
            <a:off x="2697480" y="2971800"/>
            <a:ext cx="1828800" cy="868680"/>
          </a:xfrm>
          <a:prstGeom prst="roundRect">
            <a:avLst>
              <a:gd name="adj" fmla="val 8421"/>
            </a:avLst>
          </a:prstGeom>
          <a:solidFill>
            <a:srgbClr val="134E31"/>
          </a:solidFill>
          <a:ln w="12700">
            <a:solidFill>
              <a:srgbClr val="22C55E"/>
            </a:solidFill>
            <a:prstDash val="solid"/>
          </a:ln>
        </p:spPr>
      </p:sp>
      <p:sp>
        <p:nvSpPr>
          <p:cNvPr id="14" name="Text 12"/>
          <p:cNvSpPr/>
          <p:nvPr/>
        </p:nvSpPr>
        <p:spPr>
          <a:xfrm>
            <a:off x="2697480" y="306324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58 Mandis</a:t>
            </a:r>
            <a:endParaRPr lang="en-US" sz="1300" dirty="0"/>
          </a:p>
        </p:txBody>
      </p:sp>
      <p:sp>
        <p:nvSpPr>
          <p:cNvPr id="15" name="Text 13"/>
          <p:cNvSpPr/>
          <p:nvPr/>
        </p:nvSpPr>
        <p:spPr>
          <a:xfrm>
            <a:off x="2697480" y="342900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Live APMC Price Feeds</a:t>
            </a:r>
            <a:endParaRPr lang="en-US" sz="800" dirty="0"/>
          </a:p>
        </p:txBody>
      </p:sp>
      <p:sp>
        <p:nvSpPr>
          <p:cNvPr id="16" name="Shape 14"/>
          <p:cNvSpPr/>
          <p:nvPr/>
        </p:nvSpPr>
        <p:spPr>
          <a:xfrm>
            <a:off x="4663440" y="2971800"/>
            <a:ext cx="1828800" cy="868680"/>
          </a:xfrm>
          <a:prstGeom prst="roundRect">
            <a:avLst>
              <a:gd name="adj" fmla="val 8421"/>
            </a:avLst>
          </a:prstGeom>
          <a:solidFill>
            <a:srgbClr val="134E31"/>
          </a:solidFill>
          <a:ln w="12700">
            <a:solidFill>
              <a:srgbClr val="22C55E"/>
            </a:solidFill>
            <a:prstDash val="solid"/>
          </a:ln>
        </p:spPr>
      </p:sp>
      <p:sp>
        <p:nvSpPr>
          <p:cNvPr id="17" name="Text 15"/>
          <p:cNvSpPr/>
          <p:nvPr/>
        </p:nvSpPr>
        <p:spPr>
          <a:xfrm>
            <a:off x="4663440" y="306324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16 Global Contracts</a:t>
            </a:r>
            <a:endParaRPr lang="en-US" sz="1300" dirty="0"/>
          </a:p>
        </p:txBody>
      </p:sp>
      <p:sp>
        <p:nvSpPr>
          <p:cNvPr id="18" name="Text 16"/>
          <p:cNvSpPr/>
          <p:nvPr/>
        </p:nvSpPr>
        <p:spPr>
          <a:xfrm>
            <a:off x="4663440" y="342900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APEDA Export Leads ($44.8M)</a:t>
            </a:r>
            <a:endParaRPr lang="en-US" sz="800" dirty="0"/>
          </a:p>
        </p:txBody>
      </p:sp>
      <p:sp>
        <p:nvSpPr>
          <p:cNvPr id="19" name="Shape 17"/>
          <p:cNvSpPr/>
          <p:nvPr/>
        </p:nvSpPr>
        <p:spPr>
          <a:xfrm>
            <a:off x="6629400" y="2971800"/>
            <a:ext cx="1828800" cy="868680"/>
          </a:xfrm>
          <a:prstGeom prst="roundRect">
            <a:avLst>
              <a:gd name="adj" fmla="val 8421"/>
            </a:avLst>
          </a:prstGeom>
          <a:solidFill>
            <a:srgbClr val="134E31"/>
          </a:solidFill>
          <a:ln w="12700">
            <a:solidFill>
              <a:srgbClr val="22C55E"/>
            </a:solidFill>
            <a:prstDash val="solid"/>
          </a:ln>
        </p:spPr>
      </p:sp>
      <p:sp>
        <p:nvSpPr>
          <p:cNvPr id="20" name="Text 18"/>
          <p:cNvSpPr/>
          <p:nvPr/>
        </p:nvSpPr>
        <p:spPr>
          <a:xfrm>
            <a:off x="6629400" y="306324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 Languages</a:t>
            </a:r>
            <a:endParaRPr lang="en-US" sz="1300" dirty="0"/>
          </a:p>
        </p:txBody>
      </p:sp>
      <p:sp>
        <p:nvSpPr>
          <p:cNvPr id="21" name="Text 19"/>
          <p:cNvSpPr/>
          <p:nvPr/>
        </p:nvSpPr>
        <p:spPr>
          <a:xfrm>
            <a:off x="6629400" y="342900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100% Full-DOM Engine</a:t>
            </a:r>
            <a:endParaRPr lang="en-US" sz="800" dirty="0"/>
          </a:p>
        </p:txBody>
      </p:sp>
      <p:sp>
        <p:nvSpPr>
          <p:cNvPr id="22" name="Shape 20"/>
          <p:cNvSpPr/>
          <p:nvPr/>
        </p:nvSpPr>
        <p:spPr>
          <a:xfrm>
            <a:off x="731520" y="4069080"/>
            <a:ext cx="7680960" cy="594360"/>
          </a:xfrm>
          <a:prstGeom prst="rect">
            <a:avLst/>
          </a:prstGeom>
          <a:solidFill>
            <a:srgbClr val="061C11"/>
          </a:solidFill>
          <a:ln w="12700">
            <a:solidFill>
              <a:srgbClr val="15803D"/>
            </a:solidFill>
            <a:prstDash val="solid"/>
          </a:ln>
        </p:spPr>
      </p:sp>
      <p:sp>
        <p:nvSpPr>
          <p:cNvPr id="23" name="Text 21"/>
          <p:cNvSpPr/>
          <p:nvPr/>
        </p:nvSpPr>
        <p:spPr>
          <a:xfrm>
            <a:off x="822960" y="4160520"/>
            <a:ext cx="7498080" cy="411480"/>
          </a:xfrm>
          <a:prstGeom prst="rect">
            <a:avLst/>
          </a:prstGeom>
          <a:noFill/>
          <a:ln/>
        </p:spPr>
        <p:txBody>
          <a:bodyPr wrap="square" rtlCol="0" anchor="ctr"/>
          <a:lstStyle/>
          <a:p>
            <a:pPr algn="ctr" indent="0" marL="0">
              <a:buNone/>
            </a:pPr>
            <a:r>
              <a:rPr lang="en-US" sz="900" dirty="0">
                <a:solidFill>
                  <a:srgbClr val="CBD5E1"/>
                </a:solidFill>
                <a:latin typeface="Arial" pitchFamily="34" charset="0"/>
                <a:ea typeface="Arial" pitchFamily="34" charset="-122"/>
                <a:cs typeface="Arial" pitchFamily="34" charset="-120"/>
              </a:rPr>
              <a:t>Team: [Your Team Name]  |  Problem Category: Smart Agriculture &amp; Rural Development  |  Live Demo: http://localhost:5173/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1. PROBLEM STATEMENT</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The Ground Reality of Indian Agriculture</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Why smallholder farmers face acute margin erosion and severe price volatility</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2468880" cy="2514600"/>
          </a:xfrm>
          <a:prstGeom prst="roundRect">
            <a:avLst>
              <a:gd name="adj" fmla="val 2963"/>
            </a:avLst>
          </a:prstGeom>
          <a:solidFill>
            <a:srgbClr val="F8FAFC"/>
          </a:solidFill>
          <a:ln w="12700">
            <a:solidFill>
              <a:srgbClr val="E2E8F0"/>
            </a:solidFill>
            <a:prstDash val="solid"/>
          </a:ln>
        </p:spPr>
      </p:sp>
      <p:sp>
        <p:nvSpPr>
          <p:cNvPr id="8" name="Text 6"/>
          <p:cNvSpPr/>
          <p:nvPr/>
        </p:nvSpPr>
        <p:spPr>
          <a:xfrm>
            <a:off x="868680" y="1463040"/>
            <a:ext cx="2194560" cy="4572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1. Information Asymmetry at Sowing</a:t>
            </a:r>
            <a:endParaRPr lang="en-US" sz="1100" dirty="0"/>
          </a:p>
        </p:txBody>
      </p:sp>
      <p:sp>
        <p:nvSpPr>
          <p:cNvPr id="9" name="Text 7"/>
          <p:cNvSpPr/>
          <p:nvPr/>
        </p:nvSpPr>
        <p:spPr>
          <a:xfrm>
            <a:off x="868680" y="1965960"/>
            <a:ext cx="2194560" cy="1783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Farmers select crops based on hearsay or past-season peak prices.</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Results in synchronized harvesting gluts causing severe price crashes (e.g. onion crashing to ₹3/kg).</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Imbalanced N-P-K fertilization inflates input debt without optimizing yield.</a:t>
            </a:r>
            <a:endParaRPr lang="en-US" sz="850" dirty="0"/>
          </a:p>
        </p:txBody>
      </p:sp>
      <p:sp>
        <p:nvSpPr>
          <p:cNvPr id="10" name="Shape 8"/>
          <p:cNvSpPr/>
          <p:nvPr/>
        </p:nvSpPr>
        <p:spPr>
          <a:xfrm>
            <a:off x="3337560" y="1325880"/>
            <a:ext cx="2468880" cy="2514600"/>
          </a:xfrm>
          <a:prstGeom prst="roundRect">
            <a:avLst>
              <a:gd name="adj" fmla="val 2963"/>
            </a:avLst>
          </a:prstGeom>
          <a:solidFill>
            <a:srgbClr val="F8FAFC"/>
          </a:solidFill>
          <a:ln w="12700">
            <a:solidFill>
              <a:srgbClr val="E2E8F0"/>
            </a:solidFill>
            <a:prstDash val="solid"/>
          </a:ln>
        </p:spPr>
      </p:sp>
      <p:sp>
        <p:nvSpPr>
          <p:cNvPr id="11" name="Text 9"/>
          <p:cNvSpPr/>
          <p:nvPr/>
        </p:nvSpPr>
        <p:spPr>
          <a:xfrm>
            <a:off x="3474720" y="1463040"/>
            <a:ext cx="2194560" cy="4572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2. Middlemen &amp; APMC Intermediaries</a:t>
            </a:r>
            <a:endParaRPr lang="en-US" sz="1100" dirty="0"/>
          </a:p>
        </p:txBody>
      </p:sp>
      <p:sp>
        <p:nvSpPr>
          <p:cNvPr id="12" name="Text 10"/>
          <p:cNvSpPr/>
          <p:nvPr/>
        </p:nvSpPr>
        <p:spPr>
          <a:xfrm>
            <a:off x="3474720" y="1965960"/>
            <a:ext cx="2194560" cy="1783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4 to 6 layers of commission agents exist between farm gate and end buyer.</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Intermediaries capture 25% to 40% margin cut; farmer bears 100% weather &amp; crop risk.</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Distress selling of perishables (tomato, okra) due to zero pre-harvest forward demand.</a:t>
            </a:r>
            <a:endParaRPr lang="en-US" sz="850" dirty="0"/>
          </a:p>
        </p:txBody>
      </p:sp>
      <p:sp>
        <p:nvSpPr>
          <p:cNvPr id="13" name="Shape 11"/>
          <p:cNvSpPr/>
          <p:nvPr/>
        </p:nvSpPr>
        <p:spPr>
          <a:xfrm>
            <a:off x="5943600" y="1325880"/>
            <a:ext cx="2468880" cy="2514600"/>
          </a:xfrm>
          <a:prstGeom prst="roundRect">
            <a:avLst>
              <a:gd name="adj" fmla="val 2963"/>
            </a:avLst>
          </a:prstGeom>
          <a:solidFill>
            <a:srgbClr val="F8FAFC"/>
          </a:solidFill>
          <a:ln w="12700">
            <a:solidFill>
              <a:srgbClr val="E2E8F0"/>
            </a:solidFill>
            <a:prstDash val="solid"/>
          </a:ln>
        </p:spPr>
      </p:sp>
      <p:sp>
        <p:nvSpPr>
          <p:cNvPr id="14" name="Text 12"/>
          <p:cNvSpPr/>
          <p:nvPr/>
        </p:nvSpPr>
        <p:spPr>
          <a:xfrm>
            <a:off x="6080760" y="1463040"/>
            <a:ext cx="2194560" cy="4572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3. Disconnect from Global Export Demand</a:t>
            </a:r>
            <a:endParaRPr lang="en-US" sz="1100" dirty="0"/>
          </a:p>
        </p:txBody>
      </p:sp>
      <p:sp>
        <p:nvSpPr>
          <p:cNvPr id="15" name="Text 13"/>
          <p:cNvSpPr/>
          <p:nvPr/>
        </p:nvSpPr>
        <p:spPr>
          <a:xfrm>
            <a:off x="6080760" y="1965960"/>
            <a:ext cx="2194560" cy="1783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India is an agricultural export giant ($50B+ exports), yet smallholder farmers have zero access.</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Overseas buyers pay 30% to 70% price premiums that never reach the grassroot producer.</a:t>
            </a:r>
            <a:endParaRPr lang="en-US" sz="850" dirty="0"/>
          </a:p>
          <a:p>
            <a:pPr indent="0" marL="0">
              <a:buNone/>
            </a:pPr>
            <a:endParaRPr lang="en-US" sz="850" dirty="0"/>
          </a:p>
          <a:p>
            <a:pPr indent="0" marL="0">
              <a:buNone/>
            </a:pPr>
            <a:r>
              <a:rPr lang="en-US" sz="850" dirty="0">
                <a:solidFill>
                  <a:srgbClr val="1E293B"/>
                </a:solidFill>
                <a:latin typeface="Arial" pitchFamily="34" charset="0"/>
                <a:ea typeface="Arial" pitchFamily="34" charset="-122"/>
                <a:cs typeface="Arial" pitchFamily="34" charset="-120"/>
              </a:rPr>
              <a:t>• Zero guidance on mandatory statutory documents (Phytosanitary, IEC, MRL pesticide tests).</a:t>
            </a:r>
            <a:endParaRPr lang="en-US" sz="850" dirty="0"/>
          </a:p>
        </p:txBody>
      </p:sp>
      <p:sp>
        <p:nvSpPr>
          <p:cNvPr id="16" name="Shape 14"/>
          <p:cNvSpPr/>
          <p:nvPr/>
        </p:nvSpPr>
        <p:spPr>
          <a:xfrm>
            <a:off x="731520" y="3977640"/>
            <a:ext cx="7680960" cy="685800"/>
          </a:xfrm>
          <a:prstGeom prst="roundRect">
            <a:avLst>
              <a:gd name="adj" fmla="val 10667"/>
            </a:avLst>
          </a:prstGeom>
          <a:solidFill>
            <a:srgbClr val="FEF2F2"/>
          </a:solidFill>
          <a:ln w="12700">
            <a:solidFill>
              <a:srgbClr val="FCA5A5"/>
            </a:solidFill>
            <a:prstDash val="solid"/>
          </a:ln>
        </p:spPr>
      </p:sp>
      <p:sp>
        <p:nvSpPr>
          <p:cNvPr id="17" name="Text 15"/>
          <p:cNvSpPr/>
          <p:nvPr/>
        </p:nvSpPr>
        <p:spPr>
          <a:xfrm>
            <a:off x="914400" y="4069080"/>
            <a:ext cx="7315200" cy="502920"/>
          </a:xfrm>
          <a:prstGeom prst="rect">
            <a:avLst/>
          </a:prstGeom>
          <a:noFill/>
          <a:ln/>
        </p:spPr>
        <p:txBody>
          <a:bodyPr wrap="square" rtlCol="0" anchor="ctr"/>
          <a:lstStyle/>
          <a:p>
            <a:pPr indent="0" marL="0">
              <a:buNone/>
            </a:pPr>
            <a:r>
              <a:rPr lang="en-US" sz="950" b="1" dirty="0">
                <a:solidFill>
                  <a:srgbClr val="991B1B"/>
                </a:solidFill>
                <a:latin typeface="Arial" pitchFamily="34" charset="0"/>
                <a:ea typeface="Arial" pitchFamily="34" charset="-122"/>
                <a:cs typeface="Arial" pitchFamily="34" charset="-120"/>
              </a:rPr>
              <a:t>📉 THE MACRO ECONOMIC IMPACT: The average Indian smallholder loses ₹18,000 to ₹25,000 per acre annually due to uncalibrated input spending, lack of forward contracts, and intermediary margin capture.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2. PROPOSED SOLUTION</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The Kisan Mitra 3-Portal Ecosystem</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 unified digital platform connecting the entire agricultural lifecycle from soil to global sale</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2468880" cy="3337560"/>
          </a:xfrm>
          <a:prstGeom prst="roundRect">
            <a:avLst>
              <a:gd name="adj" fmla="val 2963"/>
            </a:avLst>
          </a:prstGeom>
          <a:solidFill>
            <a:srgbClr val="F8FAFC"/>
          </a:solidFill>
          <a:ln w="12700">
            <a:solidFill>
              <a:srgbClr val="E2E8F0"/>
            </a:solidFill>
            <a:prstDash val="solid"/>
          </a:ln>
        </p:spPr>
      </p:sp>
      <p:sp>
        <p:nvSpPr>
          <p:cNvPr id="8" name="Shape 6"/>
          <p:cNvSpPr/>
          <p:nvPr/>
        </p:nvSpPr>
        <p:spPr>
          <a:xfrm>
            <a:off x="868680" y="1463040"/>
            <a:ext cx="2194560" cy="256032"/>
          </a:xfrm>
          <a:prstGeom prst="roundRect">
            <a:avLst>
              <a:gd name="adj" fmla="val 14286"/>
            </a:avLst>
          </a:prstGeom>
          <a:solidFill>
            <a:srgbClr val="DCFCE7"/>
          </a:solidFill>
          <a:ln w="6350">
            <a:solidFill>
              <a:srgbClr val="15803D"/>
            </a:solidFill>
            <a:prstDash val="solid"/>
          </a:ln>
        </p:spPr>
      </p:sp>
      <p:sp>
        <p:nvSpPr>
          <p:cNvPr id="9" name="Text 7"/>
          <p:cNvSpPr/>
          <p:nvPr/>
        </p:nvSpPr>
        <p:spPr>
          <a:xfrm>
            <a:off x="868680" y="1463040"/>
            <a:ext cx="2194560" cy="256032"/>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PORTAL 1: FARMER ASSISTANT</a:t>
            </a:r>
            <a:endParaRPr lang="en-US" sz="750" dirty="0"/>
          </a:p>
        </p:txBody>
      </p:sp>
      <p:sp>
        <p:nvSpPr>
          <p:cNvPr id="10" name="Text 8"/>
          <p:cNvSpPr/>
          <p:nvPr/>
        </p:nvSpPr>
        <p:spPr>
          <a:xfrm>
            <a:off x="868680" y="1783080"/>
            <a:ext cx="219456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Smart Agronomic Production</a:t>
            </a:r>
            <a:endParaRPr lang="en-US" sz="1100" dirty="0"/>
          </a:p>
        </p:txBody>
      </p:sp>
      <p:sp>
        <p:nvSpPr>
          <p:cNvPr id="11" name="Text 9"/>
          <p:cNvSpPr/>
          <p:nvPr/>
        </p:nvSpPr>
        <p:spPr>
          <a:xfrm>
            <a:off x="868680" y="2148840"/>
            <a:ext cx="219456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Telemetry Farm Profiling: Soil type, water source, land condition, budget.</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Rule-Based Crop Advisor: Tailored recommendations matching ICAR benchmarks.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Transparent 'WHY This Crop?': Soil retention, rotation benefits, profit margin.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Nutrient Guide &amp; Input Calculator: NPK splits, subsidized MRPs, and net ROI %.</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Direct Farm-Gate Listing: Post harvest directly to verified institutional buyers.</a:t>
            </a:r>
            <a:endParaRPr lang="en-US" sz="800" dirty="0"/>
          </a:p>
        </p:txBody>
      </p:sp>
      <p:sp>
        <p:nvSpPr>
          <p:cNvPr id="12" name="Shape 10"/>
          <p:cNvSpPr/>
          <p:nvPr/>
        </p:nvSpPr>
        <p:spPr>
          <a:xfrm>
            <a:off x="3337560" y="1325880"/>
            <a:ext cx="2468880" cy="3337560"/>
          </a:xfrm>
          <a:prstGeom prst="roundRect">
            <a:avLst>
              <a:gd name="adj" fmla="val 2963"/>
            </a:avLst>
          </a:prstGeom>
          <a:solidFill>
            <a:srgbClr val="F8FAFC"/>
          </a:solidFill>
          <a:ln w="12700">
            <a:solidFill>
              <a:srgbClr val="E2E8F0"/>
            </a:solidFill>
            <a:prstDash val="solid"/>
          </a:ln>
        </p:spPr>
      </p:sp>
      <p:sp>
        <p:nvSpPr>
          <p:cNvPr id="13" name="Shape 11"/>
          <p:cNvSpPr/>
          <p:nvPr/>
        </p:nvSpPr>
        <p:spPr>
          <a:xfrm>
            <a:off x="3474720" y="1463040"/>
            <a:ext cx="2194560" cy="256032"/>
          </a:xfrm>
          <a:prstGeom prst="roundRect">
            <a:avLst>
              <a:gd name="adj" fmla="val 14286"/>
            </a:avLst>
          </a:prstGeom>
          <a:solidFill>
            <a:srgbClr val="F1F5F9"/>
          </a:solidFill>
          <a:ln w="6350">
            <a:solidFill>
              <a:srgbClr val="0F172A"/>
            </a:solidFill>
            <a:prstDash val="solid"/>
          </a:ln>
        </p:spPr>
      </p:sp>
      <p:sp>
        <p:nvSpPr>
          <p:cNvPr id="14" name="Text 12"/>
          <p:cNvSpPr/>
          <p:nvPr/>
        </p:nvSpPr>
        <p:spPr>
          <a:xfrm>
            <a:off x="3474720" y="1463040"/>
            <a:ext cx="2194560" cy="256032"/>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PORTAL 2: BUYER MARKETPLACE</a:t>
            </a:r>
            <a:endParaRPr lang="en-US" sz="750" dirty="0"/>
          </a:p>
        </p:txBody>
      </p:sp>
      <p:sp>
        <p:nvSpPr>
          <p:cNvPr id="15" name="Text 13"/>
          <p:cNvSpPr/>
          <p:nvPr/>
        </p:nvSpPr>
        <p:spPr>
          <a:xfrm>
            <a:off x="3474720" y="1783080"/>
            <a:ext cx="219456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Direct Wholesale Marketplace</a:t>
            </a:r>
            <a:endParaRPr lang="en-US" sz="1100" dirty="0"/>
          </a:p>
        </p:txBody>
      </p:sp>
      <p:sp>
        <p:nvSpPr>
          <p:cNvPr id="16" name="Text 14"/>
          <p:cNvSpPr/>
          <p:nvPr/>
        </p:nvSpPr>
        <p:spPr>
          <a:xfrm>
            <a:off x="3474720" y="2148840"/>
            <a:ext cx="219456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Zero-Brokerage Discovery: 20 verified harvest lots across major production hubs.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AGMARK Quality Grades: Certified moisture %, foreign matter %, and photo evidence.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APMC Price Benchmark: Real-time price spread comparison with local mandis.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Formal Purchase Inquiries: Quantity, price bidding, delivery dates &amp; payment terms.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Direct Farmer Contact: WhatsApp &amp; phone links for instant dispute-free negotiation.</a:t>
            </a:r>
            <a:endParaRPr lang="en-US" sz="800" dirty="0"/>
          </a:p>
        </p:txBody>
      </p:sp>
      <p:sp>
        <p:nvSpPr>
          <p:cNvPr id="17" name="Shape 15"/>
          <p:cNvSpPr/>
          <p:nvPr/>
        </p:nvSpPr>
        <p:spPr>
          <a:xfrm>
            <a:off x="5943600" y="1325880"/>
            <a:ext cx="2468880" cy="3337560"/>
          </a:xfrm>
          <a:prstGeom prst="roundRect">
            <a:avLst>
              <a:gd name="adj" fmla="val 2963"/>
            </a:avLst>
          </a:prstGeom>
          <a:solidFill>
            <a:srgbClr val="F8FAFC"/>
          </a:solidFill>
          <a:ln w="12700">
            <a:solidFill>
              <a:srgbClr val="E2E8F0"/>
            </a:solidFill>
            <a:prstDash val="solid"/>
          </a:ln>
        </p:spPr>
      </p:sp>
      <p:sp>
        <p:nvSpPr>
          <p:cNvPr id="18" name="Shape 16"/>
          <p:cNvSpPr/>
          <p:nvPr/>
        </p:nvSpPr>
        <p:spPr>
          <a:xfrm>
            <a:off x="6080760" y="1463040"/>
            <a:ext cx="2194560" cy="256032"/>
          </a:xfrm>
          <a:prstGeom prst="roundRect">
            <a:avLst>
              <a:gd name="adj" fmla="val 14286"/>
            </a:avLst>
          </a:prstGeom>
          <a:solidFill>
            <a:srgbClr val="FEF3C7"/>
          </a:solidFill>
          <a:ln w="6350">
            <a:solidFill>
              <a:srgbClr val="B45309"/>
            </a:solidFill>
            <a:prstDash val="solid"/>
          </a:ln>
        </p:spPr>
      </p:sp>
      <p:sp>
        <p:nvSpPr>
          <p:cNvPr id="19" name="Text 17"/>
          <p:cNvSpPr/>
          <p:nvPr/>
        </p:nvSpPr>
        <p:spPr>
          <a:xfrm>
            <a:off x="6080760" y="1463040"/>
            <a:ext cx="2194560" cy="256032"/>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PORTAL 3: EXPORT &amp; GOVERNANCE</a:t>
            </a:r>
            <a:endParaRPr lang="en-US" sz="750" dirty="0"/>
          </a:p>
        </p:txBody>
      </p:sp>
      <p:sp>
        <p:nvSpPr>
          <p:cNvPr id="20" name="Text 18"/>
          <p:cNvSpPr/>
          <p:nvPr/>
        </p:nvSpPr>
        <p:spPr>
          <a:xfrm>
            <a:off x="6080760" y="1783080"/>
            <a:ext cx="219456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Global Trade &amp; State Governance</a:t>
            </a:r>
            <a:endParaRPr lang="en-US" sz="1100" dirty="0"/>
          </a:p>
        </p:txBody>
      </p:sp>
      <p:sp>
        <p:nvSpPr>
          <p:cNvPr id="21" name="Text 19"/>
          <p:cNvSpPr/>
          <p:nvPr/>
        </p:nvSpPr>
        <p:spPr>
          <a:xfrm>
            <a:off x="6080760" y="2148840"/>
            <a:ext cx="219456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APEDA &amp; DGFT Leads: 16 bilateral export contracts worth $44.8M across 16 nations.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Export Arbitrage: Demonstrates 20% to 73% price premiums over domestic mandis.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Statutory Compliance Checklist: IEC, Phytosanitary, CEPA Origin, FSSAI, NABL tests.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Incentive Calculators: Real-time RoDTEP cash rebate &amp; 3% interest subvention.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State Agri-Officer Desk: Statewide price monitoring, crop catalog &amp; fertilizer control.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3. KEY INNOVATIONS</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Technological Novelty &amp; Key Differentiators</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What makes Kisan Mitra distinctly superior to traditional portals like e-NAM and generic apps</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3749040" cy="1554480"/>
          </a:xfrm>
          <a:prstGeom prst="roundRect">
            <a:avLst>
              <a:gd name="adj" fmla="val 4706"/>
            </a:avLst>
          </a:prstGeom>
          <a:solidFill>
            <a:srgbClr val="F8FAFC"/>
          </a:solidFill>
          <a:ln w="12700">
            <a:solidFill>
              <a:srgbClr val="E2E8F0"/>
            </a:solidFill>
            <a:prstDash val="solid"/>
          </a:ln>
        </p:spPr>
      </p:sp>
      <p:sp>
        <p:nvSpPr>
          <p:cNvPr id="8" name="Shape 6"/>
          <p:cNvSpPr/>
          <p:nvPr/>
        </p:nvSpPr>
        <p:spPr>
          <a:xfrm>
            <a:off x="868680" y="1463040"/>
            <a:ext cx="411480" cy="320040"/>
          </a:xfrm>
          <a:prstGeom prst="roundRect">
            <a:avLst>
              <a:gd name="adj" fmla="val 14286"/>
            </a:avLst>
          </a:prstGeom>
          <a:solidFill>
            <a:srgbClr val="DCFCE7"/>
          </a:solidFill>
          <a:ln w="6350">
            <a:solidFill>
              <a:srgbClr val="15803D"/>
            </a:solidFill>
            <a:prstDash val="solid"/>
          </a:ln>
        </p:spPr>
      </p:sp>
      <p:sp>
        <p:nvSpPr>
          <p:cNvPr id="9" name="Text 7"/>
          <p:cNvSpPr/>
          <p:nvPr/>
        </p:nvSpPr>
        <p:spPr>
          <a:xfrm>
            <a:off x="868680" y="146304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01</a:t>
            </a:r>
            <a:endParaRPr lang="en-US" sz="1000" dirty="0"/>
          </a:p>
        </p:txBody>
      </p:sp>
      <p:sp>
        <p:nvSpPr>
          <p:cNvPr id="10" name="Text 8"/>
          <p:cNvSpPr/>
          <p:nvPr/>
        </p:nvSpPr>
        <p:spPr>
          <a:xfrm>
            <a:off x="1371600" y="146304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Explainable 'WHY This Crop?' AI Advisor</a:t>
            </a:r>
            <a:endParaRPr lang="en-US" sz="1100" dirty="0"/>
          </a:p>
        </p:txBody>
      </p:sp>
      <p:sp>
        <p:nvSpPr>
          <p:cNvPr id="11" name="Text 9"/>
          <p:cNvSpPr/>
          <p:nvPr/>
        </p:nvSpPr>
        <p:spPr>
          <a:xfrm>
            <a:off x="868680" y="1828800"/>
            <a:ext cx="3474720" cy="96012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Unlike black-box models that give unexplained recommendations, our agronomic rule engine provides transparent justifications: 'Matches Black soil moisture retention, aligns with your ₹45,000 budget, and fixes biological nitrogen following a wheat crop cycle.'</a:t>
            </a:r>
            <a:endParaRPr lang="en-US" sz="850" dirty="0"/>
          </a:p>
        </p:txBody>
      </p:sp>
      <p:sp>
        <p:nvSpPr>
          <p:cNvPr id="12" name="Shape 10"/>
          <p:cNvSpPr/>
          <p:nvPr/>
        </p:nvSpPr>
        <p:spPr>
          <a:xfrm>
            <a:off x="4663440" y="1325880"/>
            <a:ext cx="3749040" cy="1554480"/>
          </a:xfrm>
          <a:prstGeom prst="roundRect">
            <a:avLst>
              <a:gd name="adj" fmla="val 4706"/>
            </a:avLst>
          </a:prstGeom>
          <a:solidFill>
            <a:srgbClr val="F8FAFC"/>
          </a:solidFill>
          <a:ln w="12700">
            <a:solidFill>
              <a:srgbClr val="E2E8F0"/>
            </a:solidFill>
            <a:prstDash val="solid"/>
          </a:ln>
        </p:spPr>
      </p:sp>
      <p:sp>
        <p:nvSpPr>
          <p:cNvPr id="13" name="Shape 11"/>
          <p:cNvSpPr/>
          <p:nvPr/>
        </p:nvSpPr>
        <p:spPr>
          <a:xfrm>
            <a:off x="4800600" y="1463040"/>
            <a:ext cx="411480" cy="320040"/>
          </a:xfrm>
          <a:prstGeom prst="roundRect">
            <a:avLst>
              <a:gd name="adj" fmla="val 14286"/>
            </a:avLst>
          </a:prstGeom>
          <a:solidFill>
            <a:srgbClr val="DCFCE7"/>
          </a:solidFill>
          <a:ln w="6350">
            <a:solidFill>
              <a:srgbClr val="15803D"/>
            </a:solidFill>
            <a:prstDash val="solid"/>
          </a:ln>
        </p:spPr>
      </p:sp>
      <p:sp>
        <p:nvSpPr>
          <p:cNvPr id="14" name="Text 12"/>
          <p:cNvSpPr/>
          <p:nvPr/>
        </p:nvSpPr>
        <p:spPr>
          <a:xfrm>
            <a:off x="4800600" y="146304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02</a:t>
            </a:r>
            <a:endParaRPr lang="en-US" sz="1000" dirty="0"/>
          </a:p>
        </p:txBody>
      </p:sp>
      <p:sp>
        <p:nvSpPr>
          <p:cNvPr id="15" name="Text 13"/>
          <p:cNvSpPr/>
          <p:nvPr/>
        </p:nvSpPr>
        <p:spPr>
          <a:xfrm>
            <a:off x="5303520" y="146304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100% Full-DOM Regional Language Bridge</a:t>
            </a:r>
            <a:endParaRPr lang="en-US" sz="1100" dirty="0"/>
          </a:p>
        </p:txBody>
      </p:sp>
      <p:sp>
        <p:nvSpPr>
          <p:cNvPr id="16" name="Text 14"/>
          <p:cNvSpPr/>
          <p:nvPr/>
        </p:nvSpPr>
        <p:spPr>
          <a:xfrm>
            <a:off x="4800600" y="1828800"/>
            <a:ext cx="3474720" cy="96012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Equipped with an instant full-DOM translation engine supporting 9 Indian languages (Hindi, Marathi, Gujarati, Punjabi, Telugu, Tamil, Kannada, Bengali). Converts 100% of headlines, modals, tables, and buttons with zero page reload.</a:t>
            </a:r>
            <a:endParaRPr lang="en-US" sz="850" dirty="0"/>
          </a:p>
        </p:txBody>
      </p:sp>
      <p:sp>
        <p:nvSpPr>
          <p:cNvPr id="17" name="Shape 15"/>
          <p:cNvSpPr/>
          <p:nvPr/>
        </p:nvSpPr>
        <p:spPr>
          <a:xfrm>
            <a:off x="731520" y="3017520"/>
            <a:ext cx="3749040" cy="1554480"/>
          </a:xfrm>
          <a:prstGeom prst="roundRect">
            <a:avLst>
              <a:gd name="adj" fmla="val 4706"/>
            </a:avLst>
          </a:prstGeom>
          <a:solidFill>
            <a:srgbClr val="F8FAFC"/>
          </a:solidFill>
          <a:ln w="12700">
            <a:solidFill>
              <a:srgbClr val="E2E8F0"/>
            </a:solidFill>
            <a:prstDash val="solid"/>
          </a:ln>
        </p:spPr>
      </p:sp>
      <p:sp>
        <p:nvSpPr>
          <p:cNvPr id="18" name="Shape 16"/>
          <p:cNvSpPr/>
          <p:nvPr/>
        </p:nvSpPr>
        <p:spPr>
          <a:xfrm>
            <a:off x="868680" y="3154680"/>
            <a:ext cx="411480" cy="320040"/>
          </a:xfrm>
          <a:prstGeom prst="roundRect">
            <a:avLst>
              <a:gd name="adj" fmla="val 14286"/>
            </a:avLst>
          </a:prstGeom>
          <a:solidFill>
            <a:srgbClr val="DCFCE7"/>
          </a:solidFill>
          <a:ln w="6350">
            <a:solidFill>
              <a:srgbClr val="15803D"/>
            </a:solidFill>
            <a:prstDash val="solid"/>
          </a:ln>
        </p:spPr>
      </p:sp>
      <p:sp>
        <p:nvSpPr>
          <p:cNvPr id="19" name="Text 17"/>
          <p:cNvSpPr/>
          <p:nvPr/>
        </p:nvSpPr>
        <p:spPr>
          <a:xfrm>
            <a:off x="868680" y="315468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03</a:t>
            </a:r>
            <a:endParaRPr lang="en-US" sz="1000" dirty="0"/>
          </a:p>
        </p:txBody>
      </p:sp>
      <p:sp>
        <p:nvSpPr>
          <p:cNvPr id="20" name="Text 18"/>
          <p:cNvSpPr/>
          <p:nvPr/>
        </p:nvSpPr>
        <p:spPr>
          <a:xfrm>
            <a:off x="1371600" y="315468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Interactive Mandi Arbitrage Intelligence</a:t>
            </a:r>
            <a:endParaRPr lang="en-US" sz="1100" dirty="0"/>
          </a:p>
        </p:txBody>
      </p:sp>
      <p:sp>
        <p:nvSpPr>
          <p:cNvPr id="21" name="Text 19"/>
          <p:cNvSpPr/>
          <p:nvPr/>
        </p:nvSpPr>
        <p:spPr>
          <a:xfrm>
            <a:off x="868680" y="3520440"/>
            <a:ext cx="3474720" cy="96012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Integrates Recharts interactive analytics tracking 58 APMC mandis across 11 states. Features 30-day and 6-month historical price curves, plus inter-mandi comparison charts to guide farmers on where their harvest will earn higher prices.</a:t>
            </a:r>
            <a:endParaRPr lang="en-US" sz="850" dirty="0"/>
          </a:p>
        </p:txBody>
      </p:sp>
      <p:sp>
        <p:nvSpPr>
          <p:cNvPr id="22" name="Shape 20"/>
          <p:cNvSpPr/>
          <p:nvPr/>
        </p:nvSpPr>
        <p:spPr>
          <a:xfrm>
            <a:off x="4663440" y="3017520"/>
            <a:ext cx="3749040" cy="1554480"/>
          </a:xfrm>
          <a:prstGeom prst="roundRect">
            <a:avLst>
              <a:gd name="adj" fmla="val 4706"/>
            </a:avLst>
          </a:prstGeom>
          <a:solidFill>
            <a:srgbClr val="F8FAFC"/>
          </a:solidFill>
          <a:ln w="12700">
            <a:solidFill>
              <a:srgbClr val="E2E8F0"/>
            </a:solidFill>
            <a:prstDash val="solid"/>
          </a:ln>
        </p:spPr>
      </p:sp>
      <p:sp>
        <p:nvSpPr>
          <p:cNvPr id="23" name="Shape 21"/>
          <p:cNvSpPr/>
          <p:nvPr/>
        </p:nvSpPr>
        <p:spPr>
          <a:xfrm>
            <a:off x="4800600" y="3154680"/>
            <a:ext cx="411480" cy="320040"/>
          </a:xfrm>
          <a:prstGeom prst="roundRect">
            <a:avLst>
              <a:gd name="adj" fmla="val 14286"/>
            </a:avLst>
          </a:prstGeom>
          <a:solidFill>
            <a:srgbClr val="DCFCE7"/>
          </a:solidFill>
          <a:ln w="6350">
            <a:solidFill>
              <a:srgbClr val="15803D"/>
            </a:solidFill>
            <a:prstDash val="solid"/>
          </a:ln>
        </p:spPr>
      </p:sp>
      <p:sp>
        <p:nvSpPr>
          <p:cNvPr id="24" name="Text 22"/>
          <p:cNvSpPr/>
          <p:nvPr/>
        </p:nvSpPr>
        <p:spPr>
          <a:xfrm>
            <a:off x="4800600" y="315468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04</a:t>
            </a:r>
            <a:endParaRPr lang="en-US" sz="1000" dirty="0"/>
          </a:p>
        </p:txBody>
      </p:sp>
      <p:sp>
        <p:nvSpPr>
          <p:cNvPr id="25" name="Text 23"/>
          <p:cNvSpPr/>
          <p:nvPr/>
        </p:nvSpPr>
        <p:spPr>
          <a:xfrm>
            <a:off x="5303520" y="315468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Statutory Export Compliance System</a:t>
            </a:r>
            <a:endParaRPr lang="en-US" sz="1100" dirty="0"/>
          </a:p>
        </p:txBody>
      </p:sp>
      <p:sp>
        <p:nvSpPr>
          <p:cNvPr id="26" name="Text 24"/>
          <p:cNvSpPr/>
          <p:nvPr/>
        </p:nvSpPr>
        <p:spPr>
          <a:xfrm>
            <a:off x="4800600" y="3520440"/>
            <a:ext cx="3474720" cy="96012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Solves the biggest barrier in cross-border trade by embedding complete ITC-HS codes, packaging specifications, RoDTEP government rebate incentives, and downloadable checklists for Phytosanitary, IEC, and CEPA Origin certificates.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4. TECHNICAL ARCHITECTURE</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Full-Stack System Architecture &amp; Grounding</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Engineered with React 19, Recharts, and async repository contracts for seamless cloud scale</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1874520" cy="3337560"/>
          </a:xfrm>
          <a:prstGeom prst="roundRect">
            <a:avLst>
              <a:gd name="adj" fmla="val 3902"/>
            </a:avLst>
          </a:prstGeom>
          <a:solidFill>
            <a:srgbClr val="F8FAFC"/>
          </a:solidFill>
          <a:ln w="12700">
            <a:solidFill>
              <a:srgbClr val="E2E8F0"/>
            </a:solidFill>
            <a:prstDash val="solid"/>
          </a:ln>
        </p:spPr>
      </p:sp>
      <p:sp>
        <p:nvSpPr>
          <p:cNvPr id="8" name="Text 6"/>
          <p:cNvSpPr/>
          <p:nvPr/>
        </p:nvSpPr>
        <p:spPr>
          <a:xfrm>
            <a:off x="822960" y="146304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1. PRESENTATION LAYER</a:t>
            </a:r>
            <a:endParaRPr lang="en-US" sz="850" dirty="0"/>
          </a:p>
        </p:txBody>
      </p:sp>
      <p:sp>
        <p:nvSpPr>
          <p:cNvPr id="9" name="Text 7"/>
          <p:cNvSpPr/>
          <p:nvPr/>
        </p:nvSpPr>
        <p:spPr>
          <a:xfrm>
            <a:off x="822960" y="178308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React 19 + Tailwind CSS + Vite</a:t>
            </a:r>
            <a:endParaRPr lang="en-US" sz="900" dirty="0"/>
          </a:p>
        </p:txBody>
      </p:sp>
      <p:sp>
        <p:nvSpPr>
          <p:cNvPr id="10" name="Text 8"/>
          <p:cNvSpPr/>
          <p:nvPr/>
        </p:nvSpPr>
        <p:spPr>
          <a:xfrm>
            <a:off x="822960" y="2148840"/>
            <a:ext cx="169164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Ultra-responsive mobile-first design.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Dynamic role-tailored top navigation.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Executive navy styling for buyer portal.</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Plus Jakarta Sans professional typography.</a:t>
            </a:r>
            <a:endParaRPr lang="en-US" sz="800" dirty="0"/>
          </a:p>
        </p:txBody>
      </p:sp>
      <p:sp>
        <p:nvSpPr>
          <p:cNvPr id="11" name="Shape 9"/>
          <p:cNvSpPr/>
          <p:nvPr/>
        </p:nvSpPr>
        <p:spPr>
          <a:xfrm>
            <a:off x="2697480" y="1325880"/>
            <a:ext cx="1874520" cy="3337560"/>
          </a:xfrm>
          <a:prstGeom prst="roundRect">
            <a:avLst>
              <a:gd name="adj" fmla="val 3902"/>
            </a:avLst>
          </a:prstGeom>
          <a:solidFill>
            <a:srgbClr val="F8FAFC"/>
          </a:solidFill>
          <a:ln w="12700">
            <a:solidFill>
              <a:srgbClr val="E2E8F0"/>
            </a:solidFill>
            <a:prstDash val="solid"/>
          </a:ln>
        </p:spPr>
      </p:sp>
      <p:sp>
        <p:nvSpPr>
          <p:cNvPr id="12" name="Text 10"/>
          <p:cNvSpPr/>
          <p:nvPr/>
        </p:nvSpPr>
        <p:spPr>
          <a:xfrm>
            <a:off x="2788920" y="146304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2. VISUALIZATION &amp; TRANSLATION</a:t>
            </a:r>
            <a:endParaRPr lang="en-US" sz="850" dirty="0"/>
          </a:p>
        </p:txBody>
      </p:sp>
      <p:sp>
        <p:nvSpPr>
          <p:cNvPr id="13" name="Text 11"/>
          <p:cNvSpPr/>
          <p:nvPr/>
        </p:nvSpPr>
        <p:spPr>
          <a:xfrm>
            <a:off x="2788920" y="178308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Recharts + Google DOM Engine</a:t>
            </a:r>
            <a:endParaRPr lang="en-US" sz="900" dirty="0"/>
          </a:p>
        </p:txBody>
      </p:sp>
      <p:sp>
        <p:nvSpPr>
          <p:cNvPr id="14" name="Text 12"/>
          <p:cNvSpPr/>
          <p:nvPr/>
        </p:nvSpPr>
        <p:spPr>
          <a:xfrm>
            <a:off x="2788920" y="2148840"/>
            <a:ext cx="169164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30-day min/modal/max APMC curves.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6-month long-term price trajectory.</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5-mandi price spread bar charts.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Zero-reload translation into 9 languages.</a:t>
            </a:r>
            <a:endParaRPr lang="en-US" sz="800" dirty="0"/>
          </a:p>
        </p:txBody>
      </p:sp>
      <p:sp>
        <p:nvSpPr>
          <p:cNvPr id="15" name="Shape 13"/>
          <p:cNvSpPr/>
          <p:nvPr/>
        </p:nvSpPr>
        <p:spPr>
          <a:xfrm>
            <a:off x="4663440" y="1325880"/>
            <a:ext cx="1874520" cy="3337560"/>
          </a:xfrm>
          <a:prstGeom prst="roundRect">
            <a:avLst>
              <a:gd name="adj" fmla="val 3902"/>
            </a:avLst>
          </a:prstGeom>
          <a:solidFill>
            <a:srgbClr val="F8FAFC"/>
          </a:solidFill>
          <a:ln w="12700">
            <a:solidFill>
              <a:srgbClr val="E2E8F0"/>
            </a:solidFill>
            <a:prstDash val="solid"/>
          </a:ln>
        </p:spPr>
      </p:sp>
      <p:sp>
        <p:nvSpPr>
          <p:cNvPr id="16" name="Text 14"/>
          <p:cNvSpPr/>
          <p:nvPr/>
        </p:nvSpPr>
        <p:spPr>
          <a:xfrm>
            <a:off x="4754880" y="146304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3. PERSISTENCE &amp; DATA CONTRACTS</a:t>
            </a:r>
            <a:endParaRPr lang="en-US" sz="850" dirty="0"/>
          </a:p>
        </p:txBody>
      </p:sp>
      <p:sp>
        <p:nvSpPr>
          <p:cNvPr id="17" name="Text 15"/>
          <p:cNvSpPr/>
          <p:nvPr/>
        </p:nvSpPr>
        <p:spPr>
          <a:xfrm>
            <a:off x="4754880" y="178308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Asynchronous Repository Architecture</a:t>
            </a:r>
            <a:endParaRPr lang="en-US" sz="900" dirty="0"/>
          </a:p>
        </p:txBody>
      </p:sp>
      <p:sp>
        <p:nvSpPr>
          <p:cNvPr id="18" name="Text 16"/>
          <p:cNvSpPr/>
          <p:nvPr/>
        </p:nvSpPr>
        <p:spPr>
          <a:xfrm>
            <a:off x="4754880" y="2148840"/>
            <a:ext cx="169164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Structured in storageRepo.js with async calls.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Local storage for instant prototype offline speed.</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Zero-UI-change migration ready for Firebase Firestore or Node / PostgreSQL in production.</a:t>
            </a:r>
            <a:endParaRPr lang="en-US" sz="800" dirty="0"/>
          </a:p>
        </p:txBody>
      </p:sp>
      <p:sp>
        <p:nvSpPr>
          <p:cNvPr id="19" name="Shape 17"/>
          <p:cNvSpPr/>
          <p:nvPr/>
        </p:nvSpPr>
        <p:spPr>
          <a:xfrm>
            <a:off x="6629400" y="1325880"/>
            <a:ext cx="1874520" cy="3337560"/>
          </a:xfrm>
          <a:prstGeom prst="roundRect">
            <a:avLst>
              <a:gd name="adj" fmla="val 3902"/>
            </a:avLst>
          </a:prstGeom>
          <a:solidFill>
            <a:srgbClr val="F8FAFC"/>
          </a:solidFill>
          <a:ln w="12700">
            <a:solidFill>
              <a:srgbClr val="E2E8F0"/>
            </a:solidFill>
            <a:prstDash val="solid"/>
          </a:ln>
        </p:spPr>
      </p:sp>
      <p:sp>
        <p:nvSpPr>
          <p:cNvPr id="20" name="Text 18"/>
          <p:cNvSpPr/>
          <p:nvPr/>
        </p:nvSpPr>
        <p:spPr>
          <a:xfrm>
            <a:off x="6720840" y="146304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4. DATA GROUNDING &amp; INTEGRITY</a:t>
            </a:r>
            <a:endParaRPr lang="en-US" sz="850" dirty="0"/>
          </a:p>
        </p:txBody>
      </p:sp>
      <p:sp>
        <p:nvSpPr>
          <p:cNvPr id="21" name="Text 19"/>
          <p:cNvSpPr/>
          <p:nvPr/>
        </p:nvSpPr>
        <p:spPr>
          <a:xfrm>
            <a:off x="6720840" y="178308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Official Statutory Datasets</a:t>
            </a:r>
            <a:endParaRPr lang="en-US" sz="900" dirty="0"/>
          </a:p>
        </p:txBody>
      </p:sp>
      <p:sp>
        <p:nvSpPr>
          <p:cNvPr id="22" name="Text 20"/>
          <p:cNvSpPr/>
          <p:nvPr/>
        </p:nvSpPr>
        <p:spPr>
          <a:xfrm>
            <a:off x="6720840" y="2148840"/>
            <a:ext cx="1691640" cy="24231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ICAR (Indian Council of Agri Research) NPK.</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Agmarknet &amp; e-NAM daily terminal feeds.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APEDA Agri-Exchange &amp; DGFT export leads.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 dummy placeholders or 'Connect API' tags.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5. PRODUCT WALKTHROUGH</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Live Working Prototype Showcase</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Interactive screens deployed and fully operational at http://localhost:5173/</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3749040" cy="1554480"/>
          </a:xfrm>
          <a:prstGeom prst="roundRect">
            <a:avLst>
              <a:gd name="adj" fmla="val 4706"/>
            </a:avLst>
          </a:prstGeom>
          <a:solidFill>
            <a:srgbClr val="F8FAFC"/>
          </a:solidFill>
          <a:ln w="12700">
            <a:solidFill>
              <a:srgbClr val="E2E8F0"/>
            </a:solidFill>
            <a:prstDash val="solid"/>
          </a:ln>
        </p:spPr>
      </p:sp>
      <p:sp>
        <p:nvSpPr>
          <p:cNvPr id="8" name="Shape 6"/>
          <p:cNvSpPr/>
          <p:nvPr/>
        </p:nvSpPr>
        <p:spPr>
          <a:xfrm>
            <a:off x="868680" y="1463040"/>
            <a:ext cx="1371600" cy="228600"/>
          </a:xfrm>
          <a:prstGeom prst="roundRect">
            <a:avLst>
              <a:gd name="adj" fmla="val 16000"/>
            </a:avLst>
          </a:prstGeom>
          <a:solidFill>
            <a:srgbClr val="DCFCE7"/>
          </a:solidFill>
          <a:ln w="6350">
            <a:solidFill>
              <a:srgbClr val="15803D"/>
            </a:solidFill>
            <a:prstDash val="solid"/>
          </a:ln>
        </p:spPr>
      </p:sp>
      <p:sp>
        <p:nvSpPr>
          <p:cNvPr id="9" name="Text 7"/>
          <p:cNvSpPr/>
          <p:nvPr/>
        </p:nvSpPr>
        <p:spPr>
          <a:xfrm>
            <a:off x="868680" y="1463040"/>
            <a:ext cx="1371600" cy="228600"/>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FARMER PORTAL</a:t>
            </a:r>
            <a:endParaRPr lang="en-US" sz="750" dirty="0"/>
          </a:p>
        </p:txBody>
      </p:sp>
      <p:sp>
        <p:nvSpPr>
          <p:cNvPr id="10" name="Text 8"/>
          <p:cNvSpPr/>
          <p:nvPr/>
        </p:nvSpPr>
        <p:spPr>
          <a:xfrm>
            <a:off x="868680" y="173736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1: Agronomic Crop Advisor</a:t>
            </a:r>
            <a:endParaRPr lang="en-US" sz="1050" dirty="0"/>
          </a:p>
        </p:txBody>
      </p:sp>
      <p:sp>
        <p:nvSpPr>
          <p:cNvPr id="11" name="Text 9"/>
          <p:cNvSpPr/>
          <p:nvPr/>
        </p:nvSpPr>
        <p:spPr>
          <a:xfrm>
            <a:off x="868680" y="2057400"/>
            <a:ext cx="3474720" cy="7315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Profile: 3 Acres, Black Soil, Nashik, Kharif</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Matches: Soybean (92%), Red Onion (88%), Chilli (82%)</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ICAR Dosage: N:12 P:24 K:16 + Sulphur 8 kg/acre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Revenue Estimate: ₹78,000 gross / Net Profit ₹42,500</a:t>
            </a:r>
            <a:endParaRPr lang="en-US" sz="800" dirty="0"/>
          </a:p>
        </p:txBody>
      </p:sp>
      <p:sp>
        <p:nvSpPr>
          <p:cNvPr id="12" name="Shape 10"/>
          <p:cNvSpPr/>
          <p:nvPr/>
        </p:nvSpPr>
        <p:spPr>
          <a:xfrm>
            <a:off x="4663440" y="1325880"/>
            <a:ext cx="3749040" cy="1554480"/>
          </a:xfrm>
          <a:prstGeom prst="roundRect">
            <a:avLst>
              <a:gd name="adj" fmla="val 4706"/>
            </a:avLst>
          </a:prstGeom>
          <a:solidFill>
            <a:srgbClr val="F8FAFC"/>
          </a:solidFill>
          <a:ln w="12700">
            <a:solidFill>
              <a:srgbClr val="E2E8F0"/>
            </a:solidFill>
            <a:prstDash val="solid"/>
          </a:ln>
        </p:spPr>
      </p:sp>
      <p:sp>
        <p:nvSpPr>
          <p:cNvPr id="13" name="Shape 11"/>
          <p:cNvSpPr/>
          <p:nvPr/>
        </p:nvSpPr>
        <p:spPr>
          <a:xfrm>
            <a:off x="4800600" y="1463040"/>
            <a:ext cx="1371600" cy="228600"/>
          </a:xfrm>
          <a:prstGeom prst="roundRect">
            <a:avLst>
              <a:gd name="adj" fmla="val 16000"/>
            </a:avLst>
          </a:prstGeom>
          <a:solidFill>
            <a:srgbClr val="F1F5F9"/>
          </a:solidFill>
          <a:ln w="6350">
            <a:solidFill>
              <a:srgbClr val="0F172A"/>
            </a:solidFill>
            <a:prstDash val="solid"/>
          </a:ln>
        </p:spPr>
      </p:sp>
      <p:sp>
        <p:nvSpPr>
          <p:cNvPr id="14" name="Text 12"/>
          <p:cNvSpPr/>
          <p:nvPr/>
        </p:nvSpPr>
        <p:spPr>
          <a:xfrm>
            <a:off x="4800600" y="1463040"/>
            <a:ext cx="1371600" cy="228600"/>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MARKET INTELLIGENCE</a:t>
            </a:r>
            <a:endParaRPr lang="en-US" sz="750" dirty="0"/>
          </a:p>
        </p:txBody>
      </p:sp>
      <p:sp>
        <p:nvSpPr>
          <p:cNvPr id="15" name="Text 13"/>
          <p:cNvSpPr/>
          <p:nvPr/>
        </p:nvSpPr>
        <p:spPr>
          <a:xfrm>
            <a:off x="4800600" y="173736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2: Mandi Price Intelligence</a:t>
            </a:r>
            <a:endParaRPr lang="en-US" sz="1050" dirty="0"/>
          </a:p>
        </p:txBody>
      </p:sp>
      <p:sp>
        <p:nvSpPr>
          <p:cNvPr id="16" name="Text 14"/>
          <p:cNvSpPr/>
          <p:nvPr/>
        </p:nvSpPr>
        <p:spPr>
          <a:xfrm>
            <a:off x="4800600" y="2057400"/>
            <a:ext cx="3474720" cy="7315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58 Live Mandi feeds across 24 APMC yards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30-Day Min, Modal, Max curves with Recharts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5-Mandi price spread: Lasalgaon vs Pimpalgaon vs Vashi</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MSP benchmark tracking (Soybean ₹4,892, Wheat ₹2,425)</a:t>
            </a:r>
            <a:endParaRPr lang="en-US" sz="800" dirty="0"/>
          </a:p>
        </p:txBody>
      </p:sp>
      <p:sp>
        <p:nvSpPr>
          <p:cNvPr id="17" name="Shape 15"/>
          <p:cNvSpPr/>
          <p:nvPr/>
        </p:nvSpPr>
        <p:spPr>
          <a:xfrm>
            <a:off x="731520" y="3017520"/>
            <a:ext cx="3749040" cy="1554480"/>
          </a:xfrm>
          <a:prstGeom prst="roundRect">
            <a:avLst>
              <a:gd name="adj" fmla="val 4706"/>
            </a:avLst>
          </a:prstGeom>
          <a:solidFill>
            <a:srgbClr val="F8FAFC"/>
          </a:solidFill>
          <a:ln w="12700">
            <a:solidFill>
              <a:srgbClr val="E2E8F0"/>
            </a:solidFill>
            <a:prstDash val="solid"/>
          </a:ln>
        </p:spPr>
      </p:sp>
      <p:sp>
        <p:nvSpPr>
          <p:cNvPr id="18" name="Shape 16"/>
          <p:cNvSpPr/>
          <p:nvPr/>
        </p:nvSpPr>
        <p:spPr>
          <a:xfrm>
            <a:off x="868680" y="3154680"/>
            <a:ext cx="1371600" cy="228600"/>
          </a:xfrm>
          <a:prstGeom prst="roundRect">
            <a:avLst>
              <a:gd name="adj" fmla="val 16000"/>
            </a:avLst>
          </a:prstGeom>
          <a:solidFill>
            <a:srgbClr val="E0F2FE"/>
          </a:solidFill>
          <a:ln w="6350">
            <a:solidFill>
              <a:srgbClr val="0369A1"/>
            </a:solidFill>
            <a:prstDash val="solid"/>
          </a:ln>
        </p:spPr>
      </p:sp>
      <p:sp>
        <p:nvSpPr>
          <p:cNvPr id="19" name="Text 17"/>
          <p:cNvSpPr/>
          <p:nvPr/>
        </p:nvSpPr>
        <p:spPr>
          <a:xfrm>
            <a:off x="868680" y="3154680"/>
            <a:ext cx="1371600" cy="228600"/>
          </a:xfrm>
          <a:prstGeom prst="rect">
            <a:avLst/>
          </a:prstGeom>
          <a:noFill/>
          <a:ln/>
        </p:spPr>
        <p:txBody>
          <a:bodyPr wrap="square" rtlCol="0" anchor="ctr"/>
          <a:lstStyle/>
          <a:p>
            <a:pPr algn="ctr" indent="0" marL="0">
              <a:buNone/>
            </a:pPr>
            <a:r>
              <a:rPr lang="en-US" sz="750" b="1" dirty="0">
                <a:solidFill>
                  <a:srgbClr val="0369A1"/>
                </a:solidFill>
                <a:latin typeface="Arial" pitchFamily="34" charset="0"/>
                <a:ea typeface="Arial" pitchFamily="34" charset="-122"/>
                <a:cs typeface="Arial" pitchFamily="34" charset="-120"/>
              </a:rPr>
              <a:t>COMMERCIAL TRADING</a:t>
            </a:r>
            <a:endParaRPr lang="en-US" sz="750" dirty="0"/>
          </a:p>
        </p:txBody>
      </p:sp>
      <p:sp>
        <p:nvSpPr>
          <p:cNvPr id="20" name="Text 18"/>
          <p:cNvSpPr/>
          <p:nvPr/>
        </p:nvSpPr>
        <p:spPr>
          <a:xfrm>
            <a:off x="868680" y="342900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3: Direct Produce Marketplace</a:t>
            </a:r>
            <a:endParaRPr lang="en-US" sz="1050" dirty="0"/>
          </a:p>
        </p:txBody>
      </p:sp>
      <p:sp>
        <p:nvSpPr>
          <p:cNvPr id="21" name="Text 19"/>
          <p:cNvSpPr/>
          <p:nvPr/>
        </p:nvSpPr>
        <p:spPr>
          <a:xfrm>
            <a:off x="868680" y="3749040"/>
            <a:ext cx="3474720" cy="7315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20 Verified harvest listings across 10 key hubs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AGMARK Grade A, certified moisture % &amp; batch photos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Mandi Arbitrage Badge (e.g. ₹100 below Lasalgaon rate)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Direct Purchase Inquiry &amp; Negotiation Modal</a:t>
            </a:r>
            <a:endParaRPr lang="en-US" sz="800" dirty="0"/>
          </a:p>
        </p:txBody>
      </p:sp>
      <p:sp>
        <p:nvSpPr>
          <p:cNvPr id="22" name="Shape 20"/>
          <p:cNvSpPr/>
          <p:nvPr/>
        </p:nvSpPr>
        <p:spPr>
          <a:xfrm>
            <a:off x="4663440" y="3017520"/>
            <a:ext cx="3749040" cy="1554480"/>
          </a:xfrm>
          <a:prstGeom prst="roundRect">
            <a:avLst>
              <a:gd name="adj" fmla="val 4706"/>
            </a:avLst>
          </a:prstGeom>
          <a:solidFill>
            <a:srgbClr val="F8FAFC"/>
          </a:solidFill>
          <a:ln w="12700">
            <a:solidFill>
              <a:srgbClr val="E2E8F0"/>
            </a:solidFill>
            <a:prstDash val="solid"/>
          </a:ln>
        </p:spPr>
      </p:sp>
      <p:sp>
        <p:nvSpPr>
          <p:cNvPr id="23" name="Shape 21"/>
          <p:cNvSpPr/>
          <p:nvPr/>
        </p:nvSpPr>
        <p:spPr>
          <a:xfrm>
            <a:off x="4800600" y="3154680"/>
            <a:ext cx="1371600" cy="228600"/>
          </a:xfrm>
          <a:prstGeom prst="roundRect">
            <a:avLst>
              <a:gd name="adj" fmla="val 16000"/>
            </a:avLst>
          </a:prstGeom>
          <a:solidFill>
            <a:srgbClr val="FEF3C7"/>
          </a:solidFill>
          <a:ln w="6350">
            <a:solidFill>
              <a:srgbClr val="B45309"/>
            </a:solidFill>
            <a:prstDash val="solid"/>
          </a:ln>
        </p:spPr>
      </p:sp>
      <p:sp>
        <p:nvSpPr>
          <p:cNvPr id="24" name="Text 22"/>
          <p:cNvSpPr/>
          <p:nvPr/>
        </p:nvSpPr>
        <p:spPr>
          <a:xfrm>
            <a:off x="4800600" y="3154680"/>
            <a:ext cx="1371600" cy="228600"/>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APEDA / DGFT DESK</a:t>
            </a:r>
            <a:endParaRPr lang="en-US" sz="750" dirty="0"/>
          </a:p>
        </p:txBody>
      </p:sp>
      <p:sp>
        <p:nvSpPr>
          <p:cNvPr id="25" name="Text 23"/>
          <p:cNvSpPr/>
          <p:nvPr/>
        </p:nvSpPr>
        <p:spPr>
          <a:xfrm>
            <a:off x="4800600" y="342900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4: International Export Gateway</a:t>
            </a:r>
            <a:endParaRPr lang="en-US" sz="1050" dirty="0"/>
          </a:p>
        </p:txBody>
      </p:sp>
      <p:sp>
        <p:nvSpPr>
          <p:cNvPr id="26" name="Text 24"/>
          <p:cNvSpPr/>
          <p:nvPr/>
        </p:nvSpPr>
        <p:spPr>
          <a:xfrm>
            <a:off x="4800600" y="3749040"/>
            <a:ext cx="3474720" cy="7315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16 Global bilateral leads ($44.8M / 25,135 MT volume)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Germany Pomegranate, UAE Rice, Vietnam Chilli, Korea Sesame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Full ITC-HS Codes &amp; 30% to 73% Export Price Premiums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Statutory Documents Checklist &amp; RoDTEP rebate benefits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6. COMPETITIVE MATRIX</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Why Kisan Mitra Outperforms Alternatives</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 rigorous comparison across the existing digital agriculture landscape</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7680960" cy="914400"/>
        </p:xfrm>
        <a:graphic>
          <a:graphicData uri="http://schemas.openxmlformats.org/drawingml/2006/table">
            <a:tbl>
              <a:tblPr/>
              <a:tblGrid>
                <a:gridCol w="2011680"/>
                <a:gridCol w="1371600"/>
                <a:gridCol w="1371600"/>
                <a:gridCol w="1371600"/>
                <a:gridCol w="1554480"/>
              </a:tblGrid>
              <a:tr h="32004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Dimension / Feature</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Traditional Mandis</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e-NAM Portal</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Generic Agri Apps</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Kisan Mitra (Our Solution)</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5803D"/>
                    </a:solidFill>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Farm-Specific Crop Telemetry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 (Hearsay)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 (Trading Only)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Basic static lists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Rule-Based Soil/Water Engine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Intermediary Elimination</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4–6 Middlemen</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APMC Commission Agents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Partial Direct Sales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Direct Farm-Gate Procurement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International Export Gateway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Zero Access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Domestic Only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16 APEDA/DGFT Global Leads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Full Regional Multilingual</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Not Applicable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Basic English / Hindi</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Limited Support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9 Indian Languages (Full-DOM)</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Dynamic Input Cost &amp; Net ROI</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Rough Estimates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Acreage Modeler + Net Profit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Statutory Export Documentation</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Complete Statutory Checklists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7. SOCIO-ECONOMIC IMPACT</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Quantified Value Proposition &amp; Feasibility</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Tangible economic benefits delivered to smallholder farmers and the agricultural supply chain</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3749040" cy="1554480"/>
          </a:xfrm>
          <a:prstGeom prst="roundRect">
            <a:avLst>
              <a:gd name="adj" fmla="val 4706"/>
            </a:avLst>
          </a:prstGeom>
          <a:solidFill>
            <a:srgbClr val="F8FAFC"/>
          </a:solidFill>
          <a:ln w="12700">
            <a:solidFill>
              <a:srgbClr val="E2E8F0"/>
            </a:solidFill>
            <a:prstDash val="solid"/>
          </a:ln>
        </p:spPr>
      </p:sp>
      <p:sp>
        <p:nvSpPr>
          <p:cNvPr id="8" name="Text 6"/>
          <p:cNvSpPr/>
          <p:nvPr/>
        </p:nvSpPr>
        <p:spPr>
          <a:xfrm>
            <a:off x="914400" y="1463040"/>
            <a:ext cx="3383280" cy="411480"/>
          </a:xfrm>
          <a:prstGeom prst="rect">
            <a:avLst/>
          </a:prstGeom>
          <a:noFill/>
          <a:ln/>
        </p:spPr>
        <p:txBody>
          <a:bodyPr wrap="square" rtlCol="0" anchor="ctr"/>
          <a:lstStyle/>
          <a:p>
            <a:pPr indent="0" marL="0">
              <a:buNone/>
            </a:pPr>
            <a:r>
              <a:rPr lang="en-US" sz="1800" b="1" dirty="0">
                <a:solidFill>
                  <a:srgbClr val="15803D"/>
                </a:solidFill>
                <a:latin typeface="Arial" pitchFamily="34" charset="0"/>
                <a:ea typeface="Arial" pitchFamily="34" charset="-122"/>
                <a:cs typeface="Arial" pitchFamily="34" charset="-120"/>
              </a:rPr>
              <a:t>+25% to +40%</a:t>
            </a:r>
            <a:endParaRPr lang="en-US" sz="1800" dirty="0"/>
          </a:p>
        </p:txBody>
      </p:sp>
      <p:sp>
        <p:nvSpPr>
          <p:cNvPr id="9" name="Text 7"/>
          <p:cNvSpPr/>
          <p:nvPr/>
        </p:nvSpPr>
        <p:spPr>
          <a:xfrm>
            <a:off x="914400" y="1874520"/>
            <a:ext cx="33832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Net Farmer Margin Expansion</a:t>
            </a:r>
            <a:endParaRPr lang="en-US" sz="1100" dirty="0"/>
          </a:p>
        </p:txBody>
      </p:sp>
      <p:sp>
        <p:nvSpPr>
          <p:cNvPr id="10" name="Text 8"/>
          <p:cNvSpPr/>
          <p:nvPr/>
        </p:nvSpPr>
        <p:spPr>
          <a:xfrm>
            <a:off x="914400" y="2148840"/>
            <a:ext cx="3383280" cy="640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Direct farm-gate transactions eliminate APMC broker cuts, unloading levies, and transport duplication, transferring up to ₹8,000–₹12,000/acre directly to the farmer.</a:t>
            </a:r>
            <a:endParaRPr lang="en-US" sz="850" dirty="0"/>
          </a:p>
        </p:txBody>
      </p:sp>
      <p:sp>
        <p:nvSpPr>
          <p:cNvPr id="11" name="Shape 9"/>
          <p:cNvSpPr/>
          <p:nvPr/>
        </p:nvSpPr>
        <p:spPr>
          <a:xfrm>
            <a:off x="4663440" y="1325880"/>
            <a:ext cx="3749040" cy="1554480"/>
          </a:xfrm>
          <a:prstGeom prst="roundRect">
            <a:avLst>
              <a:gd name="adj" fmla="val 4706"/>
            </a:avLst>
          </a:prstGeom>
          <a:solidFill>
            <a:srgbClr val="F8FAFC"/>
          </a:solidFill>
          <a:ln w="12700">
            <a:solidFill>
              <a:srgbClr val="E2E8F0"/>
            </a:solidFill>
            <a:prstDash val="solid"/>
          </a:ln>
        </p:spPr>
      </p:sp>
      <p:sp>
        <p:nvSpPr>
          <p:cNvPr id="12" name="Text 10"/>
          <p:cNvSpPr/>
          <p:nvPr/>
        </p:nvSpPr>
        <p:spPr>
          <a:xfrm>
            <a:off x="4846320" y="1463040"/>
            <a:ext cx="3383280" cy="411480"/>
          </a:xfrm>
          <a:prstGeom prst="rect">
            <a:avLst/>
          </a:prstGeom>
          <a:noFill/>
          <a:ln/>
        </p:spPr>
        <p:txBody>
          <a:bodyPr wrap="square" rtlCol="0" anchor="ctr"/>
          <a:lstStyle/>
          <a:p>
            <a:pPr indent="0" marL="0">
              <a:buNone/>
            </a:pPr>
            <a:r>
              <a:rPr lang="en-US" sz="1800" b="1" dirty="0">
                <a:solidFill>
                  <a:srgbClr val="15803D"/>
                </a:solidFill>
                <a:latin typeface="Arial" pitchFamily="34" charset="0"/>
                <a:ea typeface="Arial" pitchFamily="34" charset="-122"/>
                <a:cs typeface="Arial" pitchFamily="34" charset="-120"/>
              </a:rPr>
              <a:t>+30% to +73%</a:t>
            </a:r>
            <a:endParaRPr lang="en-US" sz="1800" dirty="0"/>
          </a:p>
        </p:txBody>
      </p:sp>
      <p:sp>
        <p:nvSpPr>
          <p:cNvPr id="13" name="Text 11"/>
          <p:cNvSpPr/>
          <p:nvPr/>
        </p:nvSpPr>
        <p:spPr>
          <a:xfrm>
            <a:off x="4846320" y="1874520"/>
            <a:ext cx="33832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Export Price Realization</a:t>
            </a:r>
            <a:endParaRPr lang="en-US" sz="1100" dirty="0"/>
          </a:p>
        </p:txBody>
      </p:sp>
      <p:sp>
        <p:nvSpPr>
          <p:cNvPr id="14" name="Text 12"/>
          <p:cNvSpPr/>
          <p:nvPr/>
        </p:nvSpPr>
        <p:spPr>
          <a:xfrm>
            <a:off x="4846320" y="2148840"/>
            <a:ext cx="3383280" cy="640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Connects FPOs and cooperative societies directly to APEDA overseas buyers, allowing farmers to capture international price premiums on GI-tagged crops.</a:t>
            </a:r>
            <a:endParaRPr lang="en-US" sz="850" dirty="0"/>
          </a:p>
        </p:txBody>
      </p:sp>
      <p:sp>
        <p:nvSpPr>
          <p:cNvPr id="15" name="Shape 13"/>
          <p:cNvSpPr/>
          <p:nvPr/>
        </p:nvSpPr>
        <p:spPr>
          <a:xfrm>
            <a:off x="731520" y="3017520"/>
            <a:ext cx="3749040" cy="1554480"/>
          </a:xfrm>
          <a:prstGeom prst="roundRect">
            <a:avLst>
              <a:gd name="adj" fmla="val 4706"/>
            </a:avLst>
          </a:prstGeom>
          <a:solidFill>
            <a:srgbClr val="F8FAFC"/>
          </a:solidFill>
          <a:ln w="12700">
            <a:solidFill>
              <a:srgbClr val="E2E8F0"/>
            </a:solidFill>
            <a:prstDash val="solid"/>
          </a:ln>
        </p:spPr>
      </p:sp>
      <p:sp>
        <p:nvSpPr>
          <p:cNvPr id="16" name="Text 14"/>
          <p:cNvSpPr/>
          <p:nvPr/>
        </p:nvSpPr>
        <p:spPr>
          <a:xfrm>
            <a:off x="914400" y="3154680"/>
            <a:ext cx="3383280" cy="411480"/>
          </a:xfrm>
          <a:prstGeom prst="rect">
            <a:avLst/>
          </a:prstGeom>
          <a:noFill/>
          <a:ln/>
        </p:spPr>
        <p:txBody>
          <a:bodyPr wrap="square" rtlCol="0" anchor="ctr"/>
          <a:lstStyle/>
          <a:p>
            <a:pPr indent="0" marL="0">
              <a:buNone/>
            </a:pPr>
            <a:r>
              <a:rPr lang="en-US" sz="1800" b="1" dirty="0">
                <a:solidFill>
                  <a:srgbClr val="15803D"/>
                </a:solidFill>
                <a:latin typeface="Arial" pitchFamily="34" charset="0"/>
                <a:ea typeface="Arial" pitchFamily="34" charset="-122"/>
                <a:cs typeface="Arial" pitchFamily="34" charset="-120"/>
              </a:rPr>
              <a:t>Zero Waste</a:t>
            </a:r>
            <a:endParaRPr lang="en-US" sz="1800" dirty="0"/>
          </a:p>
        </p:txBody>
      </p:sp>
      <p:sp>
        <p:nvSpPr>
          <p:cNvPr id="17" name="Text 15"/>
          <p:cNvSpPr/>
          <p:nvPr/>
        </p:nvSpPr>
        <p:spPr>
          <a:xfrm>
            <a:off x="914400" y="3566160"/>
            <a:ext cx="33832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Glut Mitigation via Forward Inquiries</a:t>
            </a:r>
            <a:endParaRPr lang="en-US" sz="1100" dirty="0"/>
          </a:p>
        </p:txBody>
      </p:sp>
      <p:sp>
        <p:nvSpPr>
          <p:cNvPr id="18" name="Text 16"/>
          <p:cNvSpPr/>
          <p:nvPr/>
        </p:nvSpPr>
        <p:spPr>
          <a:xfrm>
            <a:off x="914400" y="3840480"/>
            <a:ext cx="3383280" cy="640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Pre-harvest purchase contracts and multi-mandi arbitrage guidance prevent synchronized distress selling and post-harvest produce rot.</a:t>
            </a:r>
            <a:endParaRPr lang="en-US" sz="850" dirty="0"/>
          </a:p>
        </p:txBody>
      </p:sp>
      <p:sp>
        <p:nvSpPr>
          <p:cNvPr id="19" name="Shape 17"/>
          <p:cNvSpPr/>
          <p:nvPr/>
        </p:nvSpPr>
        <p:spPr>
          <a:xfrm>
            <a:off x="4663440" y="3017520"/>
            <a:ext cx="3749040" cy="1554480"/>
          </a:xfrm>
          <a:prstGeom prst="roundRect">
            <a:avLst>
              <a:gd name="adj" fmla="val 4706"/>
            </a:avLst>
          </a:prstGeom>
          <a:solidFill>
            <a:srgbClr val="F8FAFC"/>
          </a:solidFill>
          <a:ln w="12700">
            <a:solidFill>
              <a:srgbClr val="E2E8F0"/>
            </a:solidFill>
            <a:prstDash val="solid"/>
          </a:ln>
        </p:spPr>
      </p:sp>
      <p:sp>
        <p:nvSpPr>
          <p:cNvPr id="20" name="Text 18"/>
          <p:cNvSpPr/>
          <p:nvPr/>
        </p:nvSpPr>
        <p:spPr>
          <a:xfrm>
            <a:off x="4846320" y="3154680"/>
            <a:ext cx="3383280" cy="411480"/>
          </a:xfrm>
          <a:prstGeom prst="rect">
            <a:avLst/>
          </a:prstGeom>
          <a:noFill/>
          <a:ln/>
        </p:spPr>
        <p:txBody>
          <a:bodyPr wrap="square" rtlCol="0" anchor="ctr"/>
          <a:lstStyle/>
          <a:p>
            <a:pPr indent="0" marL="0">
              <a:buNone/>
            </a:pPr>
            <a:r>
              <a:rPr lang="en-US" sz="1800" b="1" dirty="0">
                <a:solidFill>
                  <a:srgbClr val="15803D"/>
                </a:solidFill>
                <a:latin typeface="Arial" pitchFamily="34" charset="0"/>
                <a:ea typeface="Arial" pitchFamily="34" charset="-122"/>
                <a:cs typeface="Arial" pitchFamily="34" charset="-120"/>
              </a:rPr>
              <a:t>100% Native</a:t>
            </a:r>
            <a:endParaRPr lang="en-US" sz="1800" dirty="0"/>
          </a:p>
        </p:txBody>
      </p:sp>
      <p:sp>
        <p:nvSpPr>
          <p:cNvPr id="21" name="Text 19"/>
          <p:cNvSpPr/>
          <p:nvPr/>
        </p:nvSpPr>
        <p:spPr>
          <a:xfrm>
            <a:off x="4846320" y="3566160"/>
            <a:ext cx="33832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Regional Vernacular Inclusion</a:t>
            </a:r>
            <a:endParaRPr lang="en-US" sz="1100" dirty="0"/>
          </a:p>
        </p:txBody>
      </p:sp>
      <p:sp>
        <p:nvSpPr>
          <p:cNvPr id="22" name="Text 20"/>
          <p:cNvSpPr/>
          <p:nvPr/>
        </p:nvSpPr>
        <p:spPr>
          <a:xfrm>
            <a:off x="4846320" y="3840480"/>
            <a:ext cx="3383280" cy="6400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By translating 100% of technical advice into 9 regional languages, marginal farmers with limited English literacy can make high-tech agronomic decisions.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900" b="1" dirty="0">
                <a:solidFill>
                  <a:srgbClr val="15803D"/>
                </a:solidFill>
                <a:latin typeface="Arial" pitchFamily="34" charset="0"/>
                <a:ea typeface="Arial" pitchFamily="34" charset="-122"/>
                <a:cs typeface="Arial" pitchFamily="34" charset="-120"/>
              </a:rPr>
              <a:t>8. SCALABILITY &amp; ROADMAP</a:t>
            </a:r>
            <a:endParaRPr lang="en-US" sz="900" dirty="0"/>
          </a:p>
        </p:txBody>
      </p:sp>
      <p:sp>
        <p:nvSpPr>
          <p:cNvPr id="3" name="Text 1"/>
          <p:cNvSpPr/>
          <p:nvPr/>
        </p:nvSpPr>
        <p:spPr>
          <a:xfrm>
            <a:off x="731520" y="530352"/>
            <a:ext cx="768096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Strategic Roadmap: From Hackathon to National Impact</a:t>
            </a:r>
            <a:endParaRPr lang="en-US" sz="1800" dirty="0"/>
          </a:p>
        </p:txBody>
      </p:sp>
      <p:sp>
        <p:nvSpPr>
          <p:cNvPr id="4" name="Text 2"/>
          <p:cNvSpPr/>
          <p:nvPr/>
        </p:nvSpPr>
        <p:spPr>
          <a:xfrm>
            <a:off x="731520" y="914400"/>
            <a:ext cx="768096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 structured 3-phase trajectory integrating with national digital public infrastructure</a:t>
            </a:r>
            <a:endParaRPr lang="en-US" sz="1000" dirty="0"/>
          </a:p>
        </p:txBody>
      </p:sp>
      <p:sp>
        <p:nvSpPr>
          <p:cNvPr id="5" name="Shape 3"/>
          <p:cNvSpPr/>
          <p:nvPr/>
        </p:nvSpPr>
        <p:spPr>
          <a:xfrm>
            <a:off x="731520" y="1170432"/>
            <a:ext cx="7680960" cy="18288"/>
          </a:xfrm>
          <a:prstGeom prst="rect">
            <a:avLst/>
          </a:prstGeom>
          <a:solidFill>
            <a:srgbClr val="E2E8F0"/>
          </a:solidFill>
          <a:ln w="12700">
            <a:solidFill>
              <a:srgbClr val="E2E8F0"/>
            </a:solidFill>
            <a:prstDash val="solid"/>
          </a:ln>
        </p:spPr>
      </p:sp>
      <p:sp>
        <p:nvSpPr>
          <p:cNvPr id="6" name="Text 4"/>
          <p:cNvSpPr/>
          <p:nvPr/>
        </p:nvSpPr>
        <p:spPr>
          <a:xfrm>
            <a:off x="731520" y="4846320"/>
            <a:ext cx="594360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Kisan Mitra — Smart Farmer Assistant &amp; Direct Crop Marketplace  |  SIH 2026 Prototype</a:t>
            </a:r>
            <a:endParaRPr lang="en-US" sz="800" dirty="0"/>
          </a:p>
        </p:txBody>
      </p:sp>
      <p:sp>
        <p:nvSpPr>
          <p:cNvPr id="7" name="Shape 5"/>
          <p:cNvSpPr/>
          <p:nvPr/>
        </p:nvSpPr>
        <p:spPr>
          <a:xfrm>
            <a:off x="731520" y="1325880"/>
            <a:ext cx="2468880" cy="3337560"/>
          </a:xfrm>
          <a:prstGeom prst="roundRect">
            <a:avLst>
              <a:gd name="adj" fmla="val 2963"/>
            </a:avLst>
          </a:prstGeom>
          <a:solidFill>
            <a:srgbClr val="F8FAFC"/>
          </a:solidFill>
          <a:ln w="12700">
            <a:solidFill>
              <a:srgbClr val="E2E8F0"/>
            </a:solidFill>
            <a:prstDash val="solid"/>
          </a:ln>
        </p:spPr>
      </p:sp>
      <p:sp>
        <p:nvSpPr>
          <p:cNvPr id="8" name="Shape 6"/>
          <p:cNvSpPr/>
          <p:nvPr/>
        </p:nvSpPr>
        <p:spPr>
          <a:xfrm>
            <a:off x="868680" y="1463040"/>
            <a:ext cx="2194560" cy="256032"/>
          </a:xfrm>
          <a:prstGeom prst="roundRect">
            <a:avLst>
              <a:gd name="adj" fmla="val 14286"/>
            </a:avLst>
          </a:prstGeom>
          <a:solidFill>
            <a:srgbClr val="DCFCE7"/>
          </a:solidFill>
          <a:ln w="6350">
            <a:solidFill>
              <a:srgbClr val="15803D"/>
            </a:solidFill>
            <a:prstDash val="solid"/>
          </a:ln>
        </p:spPr>
      </p:sp>
      <p:sp>
        <p:nvSpPr>
          <p:cNvPr id="9" name="Text 7"/>
          <p:cNvSpPr/>
          <p:nvPr/>
        </p:nvSpPr>
        <p:spPr>
          <a:xfrm>
            <a:off x="868680" y="1463040"/>
            <a:ext cx="2194560" cy="256032"/>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PHASE 1 (COMPLETED)</a:t>
            </a:r>
            <a:endParaRPr lang="en-US" sz="750" dirty="0"/>
          </a:p>
        </p:txBody>
      </p:sp>
      <p:sp>
        <p:nvSpPr>
          <p:cNvPr id="10" name="Text 8"/>
          <p:cNvSpPr/>
          <p:nvPr/>
        </p:nvSpPr>
        <p:spPr>
          <a:xfrm>
            <a:off x="868680" y="178308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SIH 2026 Prototype</a:t>
            </a:r>
            <a:endParaRPr lang="en-US" sz="1000" dirty="0"/>
          </a:p>
        </p:txBody>
      </p:sp>
      <p:sp>
        <p:nvSpPr>
          <p:cNvPr id="11" name="Text 9"/>
          <p:cNvSpPr/>
          <p:nvPr/>
        </p:nvSpPr>
        <p:spPr>
          <a:xfrm>
            <a:off x="868680" y="2103120"/>
            <a:ext cx="2194560" cy="24688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Full 3-Portal functional ecosystem (Farmer, Buyer, Admin).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30 Comprehensive ICAR crops &amp; vegetables catalog.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20 Verified harvest listings &amp; 10 institutional inquiries.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16 Bilateral international export contracts ($44.8M).</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58 APMC mandi price feeds &amp; Recharts arbitrage graphs.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100% Full-DOM translation into 9 Indian languages.</a:t>
            </a:r>
            <a:endParaRPr lang="en-US" sz="800" dirty="0"/>
          </a:p>
        </p:txBody>
      </p:sp>
      <p:sp>
        <p:nvSpPr>
          <p:cNvPr id="12" name="Shape 10"/>
          <p:cNvSpPr/>
          <p:nvPr/>
        </p:nvSpPr>
        <p:spPr>
          <a:xfrm>
            <a:off x="3337560" y="1325880"/>
            <a:ext cx="2468880" cy="3337560"/>
          </a:xfrm>
          <a:prstGeom prst="roundRect">
            <a:avLst>
              <a:gd name="adj" fmla="val 2963"/>
            </a:avLst>
          </a:prstGeom>
          <a:solidFill>
            <a:srgbClr val="F8FAFC"/>
          </a:solidFill>
          <a:ln w="12700">
            <a:solidFill>
              <a:srgbClr val="E2E8F0"/>
            </a:solidFill>
            <a:prstDash val="solid"/>
          </a:ln>
        </p:spPr>
      </p:sp>
      <p:sp>
        <p:nvSpPr>
          <p:cNvPr id="13" name="Shape 11"/>
          <p:cNvSpPr/>
          <p:nvPr/>
        </p:nvSpPr>
        <p:spPr>
          <a:xfrm>
            <a:off x="3474720" y="1463040"/>
            <a:ext cx="2194560" cy="256032"/>
          </a:xfrm>
          <a:prstGeom prst="roundRect">
            <a:avLst>
              <a:gd name="adj" fmla="val 14286"/>
            </a:avLst>
          </a:prstGeom>
          <a:solidFill>
            <a:srgbClr val="F1F5F9"/>
          </a:solidFill>
          <a:ln w="6350">
            <a:solidFill>
              <a:srgbClr val="0F172A"/>
            </a:solidFill>
            <a:prstDash val="solid"/>
          </a:ln>
        </p:spPr>
      </p:sp>
      <p:sp>
        <p:nvSpPr>
          <p:cNvPr id="14" name="Text 12"/>
          <p:cNvSpPr/>
          <p:nvPr/>
        </p:nvSpPr>
        <p:spPr>
          <a:xfrm>
            <a:off x="3474720" y="1463040"/>
            <a:ext cx="2194560" cy="256032"/>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PHASE 2 (NEXT 6 MONTHS)</a:t>
            </a:r>
            <a:endParaRPr lang="en-US" sz="750" dirty="0"/>
          </a:p>
        </p:txBody>
      </p:sp>
      <p:sp>
        <p:nvSpPr>
          <p:cNvPr id="15" name="Text 13"/>
          <p:cNvSpPr/>
          <p:nvPr/>
        </p:nvSpPr>
        <p:spPr>
          <a:xfrm>
            <a:off x="3474720" y="178308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Ecosystem Expansion</a:t>
            </a:r>
            <a:endParaRPr lang="en-US" sz="1000" dirty="0"/>
          </a:p>
        </p:txBody>
      </p:sp>
      <p:sp>
        <p:nvSpPr>
          <p:cNvPr id="16" name="Text 14"/>
          <p:cNvSpPr/>
          <p:nvPr/>
        </p:nvSpPr>
        <p:spPr>
          <a:xfrm>
            <a:off x="3474720" y="2103120"/>
            <a:ext cx="2194560" cy="24688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ONDC Integration: Open Network for Digital Commerce logistics.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WhatsApp Agri-Bot: Voice-driven crop advice via Twilio API.</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Computer Vision AI: Smartphone camera quality grading.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Cloud Firestore &amp; Backend: Multi-tenant production scale.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Pilot Launch: 50 FPOs across Maharashtra and Gujarat.</a:t>
            </a:r>
            <a:endParaRPr lang="en-US" sz="800" dirty="0"/>
          </a:p>
        </p:txBody>
      </p:sp>
      <p:sp>
        <p:nvSpPr>
          <p:cNvPr id="17" name="Shape 15"/>
          <p:cNvSpPr/>
          <p:nvPr/>
        </p:nvSpPr>
        <p:spPr>
          <a:xfrm>
            <a:off x="5943600" y="1325880"/>
            <a:ext cx="2468880" cy="3337560"/>
          </a:xfrm>
          <a:prstGeom prst="roundRect">
            <a:avLst>
              <a:gd name="adj" fmla="val 2963"/>
            </a:avLst>
          </a:prstGeom>
          <a:solidFill>
            <a:srgbClr val="F8FAFC"/>
          </a:solidFill>
          <a:ln w="12700">
            <a:solidFill>
              <a:srgbClr val="E2E8F0"/>
            </a:solidFill>
            <a:prstDash val="solid"/>
          </a:ln>
        </p:spPr>
      </p:sp>
      <p:sp>
        <p:nvSpPr>
          <p:cNvPr id="18" name="Shape 16"/>
          <p:cNvSpPr/>
          <p:nvPr/>
        </p:nvSpPr>
        <p:spPr>
          <a:xfrm>
            <a:off x="6080760" y="1463040"/>
            <a:ext cx="2194560" cy="256032"/>
          </a:xfrm>
          <a:prstGeom prst="roundRect">
            <a:avLst>
              <a:gd name="adj" fmla="val 14286"/>
            </a:avLst>
          </a:prstGeom>
          <a:solidFill>
            <a:srgbClr val="FEF3C7"/>
          </a:solidFill>
          <a:ln w="6350">
            <a:solidFill>
              <a:srgbClr val="B45309"/>
            </a:solidFill>
            <a:prstDash val="solid"/>
          </a:ln>
        </p:spPr>
      </p:sp>
      <p:sp>
        <p:nvSpPr>
          <p:cNvPr id="19" name="Text 17"/>
          <p:cNvSpPr/>
          <p:nvPr/>
        </p:nvSpPr>
        <p:spPr>
          <a:xfrm>
            <a:off x="6080760" y="1463040"/>
            <a:ext cx="2194560" cy="256032"/>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PHASE 3 (MONTHS 6–18)</a:t>
            </a:r>
            <a:endParaRPr lang="en-US" sz="750" dirty="0"/>
          </a:p>
        </p:txBody>
      </p:sp>
      <p:sp>
        <p:nvSpPr>
          <p:cNvPr id="20" name="Text 18"/>
          <p:cNvSpPr/>
          <p:nvPr/>
        </p:nvSpPr>
        <p:spPr>
          <a:xfrm>
            <a:off x="6080760" y="178308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Nationwide Scale</a:t>
            </a:r>
            <a:endParaRPr lang="en-US" sz="1000" dirty="0"/>
          </a:p>
        </p:txBody>
      </p:sp>
      <p:sp>
        <p:nvSpPr>
          <p:cNvPr id="21" name="Text 19"/>
          <p:cNvSpPr/>
          <p:nvPr/>
        </p:nvSpPr>
        <p:spPr>
          <a:xfrm>
            <a:off x="6080760" y="2103120"/>
            <a:ext cx="2194560" cy="24688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e-RUPI / Smart Contract Escrow: Instant farmer settlement upon digital QA signoff.</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IoT Soil Sensor Feeds: Automated telemetry data capture.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Satellite InSAR Soil Moisture: Micro-climate drought tracking.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Ministry Data Tie-In: Real-time Agmarknet &amp; APEDA API webhooks.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D1C"/>
        </a:solidFill>
      </p:bgPr>
    </p:bg>
    <p:spTree>
      <p:nvGrpSpPr>
        <p:cNvPr id="1" name=""/>
        <p:cNvGrpSpPr/>
        <p:nvPr/>
      </p:nvGrpSpPr>
      <p:grpSpPr>
        <a:xfrm>
          <a:off x="0" y="0"/>
          <a:ext cx="0" cy="0"/>
          <a:chOff x="0" y="0"/>
          <a:chExt cx="0" cy="0"/>
        </a:xfrm>
      </p:grpSpPr>
      <p:sp>
        <p:nvSpPr>
          <p:cNvPr id="2" name="Shape 0"/>
          <p:cNvSpPr/>
          <p:nvPr/>
        </p:nvSpPr>
        <p:spPr>
          <a:xfrm>
            <a:off x="731520" y="457200"/>
            <a:ext cx="2560320" cy="54864"/>
          </a:xfrm>
          <a:prstGeom prst="rect">
            <a:avLst/>
          </a:prstGeom>
          <a:solidFill>
            <a:srgbClr val="FF9933"/>
          </a:solidFill>
          <a:ln w="12700">
            <a:solidFill>
              <a:srgbClr val="FF9933"/>
            </a:solidFill>
            <a:prstDash val="solid"/>
          </a:ln>
        </p:spPr>
      </p:sp>
      <p:sp>
        <p:nvSpPr>
          <p:cNvPr id="3" name="Shape 1"/>
          <p:cNvSpPr/>
          <p:nvPr/>
        </p:nvSpPr>
        <p:spPr>
          <a:xfrm>
            <a:off x="3291840" y="457200"/>
            <a:ext cx="2560320" cy="54864"/>
          </a:xfrm>
          <a:prstGeom prst="rect">
            <a:avLst/>
          </a:prstGeom>
          <a:solidFill>
            <a:srgbClr val="FFFFFF"/>
          </a:solidFill>
          <a:ln w="12700">
            <a:solidFill>
              <a:srgbClr val="FFFFFF"/>
            </a:solidFill>
            <a:prstDash val="solid"/>
          </a:ln>
        </p:spPr>
      </p:sp>
      <p:sp>
        <p:nvSpPr>
          <p:cNvPr id="4" name="Shape 2"/>
          <p:cNvSpPr/>
          <p:nvPr/>
        </p:nvSpPr>
        <p:spPr>
          <a:xfrm>
            <a:off x="5852160" y="457200"/>
            <a:ext cx="2560320" cy="54864"/>
          </a:xfrm>
          <a:prstGeom prst="rect">
            <a:avLst/>
          </a:prstGeom>
          <a:solidFill>
            <a:srgbClr val="138808"/>
          </a:solidFill>
          <a:ln w="12700">
            <a:solidFill>
              <a:srgbClr val="138808"/>
            </a:solidFill>
            <a:prstDash val="solid"/>
          </a:ln>
        </p:spPr>
      </p:sp>
      <p:sp>
        <p:nvSpPr>
          <p:cNvPr id="5" name="Text 3"/>
          <p:cNvSpPr/>
          <p:nvPr/>
        </p:nvSpPr>
        <p:spPr>
          <a:xfrm>
            <a:off x="731520" y="777240"/>
            <a:ext cx="7680960" cy="320040"/>
          </a:xfrm>
          <a:prstGeom prst="rect">
            <a:avLst/>
          </a:prstGeom>
          <a:noFill/>
          <a:ln/>
        </p:spPr>
        <p:txBody>
          <a:bodyPr wrap="square" rtlCol="0" anchor="ctr"/>
          <a:lstStyle/>
          <a:p>
            <a:pPr indent="0" marL="0">
              <a:buNone/>
            </a:pPr>
            <a:r>
              <a:rPr lang="en-US" sz="1100" b="1" dirty="0">
                <a:solidFill>
                  <a:srgbClr val="86EFAC"/>
                </a:solidFill>
                <a:latin typeface="Arial" pitchFamily="34" charset="0"/>
                <a:ea typeface="Arial" pitchFamily="34" charset="-122"/>
                <a:cs typeface="Arial" pitchFamily="34" charset="-120"/>
              </a:rPr>
              <a:t>CONCLUSION &amp; PITCH SUMMARY</a:t>
            </a:r>
            <a:endParaRPr lang="en-US" sz="1100" dirty="0"/>
          </a:p>
        </p:txBody>
      </p:sp>
      <p:sp>
        <p:nvSpPr>
          <p:cNvPr id="6" name="Text 4"/>
          <p:cNvSpPr/>
          <p:nvPr/>
        </p:nvSpPr>
        <p:spPr>
          <a:xfrm>
            <a:off x="731520" y="1143000"/>
            <a:ext cx="7680960" cy="5943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Empowering 140 Million Indian Farmers</a:t>
            </a:r>
            <a:endParaRPr lang="en-US" sz="2600" dirty="0"/>
          </a:p>
        </p:txBody>
      </p:sp>
      <p:sp>
        <p:nvSpPr>
          <p:cNvPr id="7" name="Text 5"/>
          <p:cNvSpPr/>
          <p:nvPr/>
        </p:nvSpPr>
        <p:spPr>
          <a:xfrm>
            <a:off x="731520" y="1691640"/>
            <a:ext cx="7680960" cy="41148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Kisan Mitra transforms agriculture from an unguided gamble into a data-driven, direct-market enterprise.</a:t>
            </a:r>
            <a:endParaRPr lang="en-US" sz="1300" dirty="0"/>
          </a:p>
        </p:txBody>
      </p:sp>
      <p:sp>
        <p:nvSpPr>
          <p:cNvPr id="8" name="Shape 6"/>
          <p:cNvSpPr/>
          <p:nvPr/>
        </p:nvSpPr>
        <p:spPr>
          <a:xfrm>
            <a:off x="731520" y="2194560"/>
            <a:ext cx="7680960" cy="594360"/>
          </a:xfrm>
          <a:prstGeom prst="roundRect">
            <a:avLst>
              <a:gd name="adj" fmla="val 9231"/>
            </a:avLst>
          </a:prstGeom>
          <a:solidFill>
            <a:srgbClr val="134E31"/>
          </a:solidFill>
          <a:ln w="12700">
            <a:solidFill>
              <a:srgbClr val="22C55E"/>
            </a:solidFill>
            <a:prstDash val="solid"/>
          </a:ln>
        </p:spPr>
      </p:sp>
      <p:sp>
        <p:nvSpPr>
          <p:cNvPr id="9" name="Text 7"/>
          <p:cNvSpPr/>
          <p:nvPr/>
        </p:nvSpPr>
        <p:spPr>
          <a:xfrm>
            <a:off x="914400" y="230428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 Agronomic Intelligence — Prevents glut cycles and cuts input fertilizer debt with ICAR benchmarks.</a:t>
            </a:r>
            <a:endParaRPr lang="en-US" sz="1000" dirty="0"/>
          </a:p>
        </p:txBody>
      </p:sp>
      <p:sp>
        <p:nvSpPr>
          <p:cNvPr id="10" name="Shape 8"/>
          <p:cNvSpPr/>
          <p:nvPr/>
        </p:nvSpPr>
        <p:spPr>
          <a:xfrm>
            <a:off x="731520" y="2880360"/>
            <a:ext cx="7680960" cy="594360"/>
          </a:xfrm>
          <a:prstGeom prst="roundRect">
            <a:avLst>
              <a:gd name="adj" fmla="val 9231"/>
            </a:avLst>
          </a:prstGeom>
          <a:solidFill>
            <a:srgbClr val="134E31"/>
          </a:solidFill>
          <a:ln w="12700">
            <a:solidFill>
              <a:srgbClr val="22C55E"/>
            </a:solidFill>
            <a:prstDash val="solid"/>
          </a:ln>
        </p:spPr>
      </p:sp>
      <p:sp>
        <p:nvSpPr>
          <p:cNvPr id="11" name="Text 9"/>
          <p:cNvSpPr/>
          <p:nvPr/>
        </p:nvSpPr>
        <p:spPr>
          <a:xfrm>
            <a:off x="914400" y="299008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2. Direct Market Power — Bypasses middlemen commissions with direct farm-gate buyer inquiries.</a:t>
            </a:r>
            <a:endParaRPr lang="en-US" sz="1000" dirty="0"/>
          </a:p>
        </p:txBody>
      </p:sp>
      <p:sp>
        <p:nvSpPr>
          <p:cNvPr id="12" name="Shape 10"/>
          <p:cNvSpPr/>
          <p:nvPr/>
        </p:nvSpPr>
        <p:spPr>
          <a:xfrm>
            <a:off x="731520" y="3566160"/>
            <a:ext cx="7680960" cy="594360"/>
          </a:xfrm>
          <a:prstGeom prst="roundRect">
            <a:avLst>
              <a:gd name="adj" fmla="val 9231"/>
            </a:avLst>
          </a:prstGeom>
          <a:solidFill>
            <a:srgbClr val="134E31"/>
          </a:solidFill>
          <a:ln w="12700">
            <a:solidFill>
              <a:srgbClr val="22C55E"/>
            </a:solidFill>
            <a:prstDash val="solid"/>
          </a:ln>
        </p:spPr>
      </p:sp>
      <p:sp>
        <p:nvSpPr>
          <p:cNvPr id="13" name="Text 11"/>
          <p:cNvSpPr/>
          <p:nvPr/>
        </p:nvSpPr>
        <p:spPr>
          <a:xfrm>
            <a:off x="914400" y="367588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3. Global Export Vision — Unlocks high-margin cross-border trade leads with statutory compliance checklists.</a:t>
            </a:r>
            <a:endParaRPr lang="en-US" sz="1000" dirty="0"/>
          </a:p>
        </p:txBody>
      </p:sp>
      <p:sp>
        <p:nvSpPr>
          <p:cNvPr id="14" name="Text 12"/>
          <p:cNvSpPr/>
          <p:nvPr/>
        </p:nvSpPr>
        <p:spPr>
          <a:xfrm>
            <a:off x="731520" y="4389120"/>
            <a:ext cx="7680960" cy="320040"/>
          </a:xfrm>
          <a:prstGeom prst="rect">
            <a:avLst/>
          </a:prstGeom>
          <a:noFill/>
          <a:ln/>
        </p:spPr>
        <p:txBody>
          <a:bodyPr wrap="square" rtlCol="0" anchor="ctr"/>
          <a:lstStyle/>
          <a:p>
            <a:pPr algn="ctr" indent="0" marL="0">
              <a:buNone/>
            </a:pPr>
            <a:r>
              <a:rPr lang="en-US" sz="1100" b="1" dirty="0">
                <a:solidFill>
                  <a:srgbClr val="FEF08A"/>
                </a:solidFill>
                <a:latin typeface="Arial" pitchFamily="34" charset="0"/>
                <a:ea typeface="Arial" pitchFamily="34" charset="-122"/>
                <a:cs typeface="Arial" pitchFamily="34" charset="-120"/>
              </a:rPr>
              <a:t>Thank you, Respected Judges! We welcome your questions and invite you to experience the live prototype.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 Mitra - Smart Farmer Assistant &amp; Direct Crop Marketplace</dc:title>
  <dc:subject>PptxGenJS Presentation</dc:subject>
  <dc:creator>Kisan Mitra Team</dc:creator>
  <cp:lastModifiedBy>Kisan Mitra Team</cp:lastModifiedBy>
  <cp:revision>1</cp:revision>
  <dcterms:created xsi:type="dcterms:W3CDTF">2026-09-21T19:04:54Z</dcterms:created>
  <dcterms:modified xsi:type="dcterms:W3CDTF">2026-09-21T19:04:54Z</dcterms:modified>
</cp:coreProperties>
</file>